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0d12643-91b8-3140-5925-4d042181a643}">
          <p14:sldIdLst>
            <p14:sldId id="256"/>
            <p14:sldId id="257"/>
            <p14:sldId id="258"/>
            <p14:sldId id="259"/>
          </p14:sldIdLst>
        </p14:section>
        <p14:section name="Methodology" id="{c998a0c7-d74b-b70a-4500-efb3170bd601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Results" id="{e078f5c2-98d1-b153-ecd0-4181c4f2af05}">
          <p14:sldIdLst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Insights and Conclusion" id="{7f3a99cc-bf2e-f911-c1a0-16519d586809}">
          <p14:sldIdLst>
            <p14:sldId id="286"/>
            <p14:sldId id="287"/>
          </p14:sldIdLst>
        </p14:section>
        <p14:section name="Appendix" id="{72931fd5-2ff0-d798-d2bb-94f47253d2ce}">
          <p14:sldIdLst>
            <p14:sldId id="288"/>
            <p14:sldId id="28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1920240"/>
            <a:ext cx="63093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2651760"/>
            <a:ext cx="64008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Dimash  ·  IBM Applied Data Science Capstone  ·  github.com/itsdimash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Dimash  ·  IBM Applied Data Science Capstone  ·  github.com/itsdimash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Dimash  ·  IBM Applied Data Science Capstone  ·  github.com/itsdimash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itsdimash/IBM-Data-Science-Capstone-SpaceX" TargetMode="External"/><Relationship Id="rId1" Type="http://schemas.openxmlformats.org/officeDocument/2006/relationships/image" Target="../media/image-1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itsdimash/IBM-Data-Science-Capstone-SpaceX/blob/main/jupyter-labs-spacex-data-collection-api.ipynb" TargetMode="Externa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itsdimash/IBM-Data-Science-Capstone-SpaceX/blob/main/jupyter-labs-webscraping.ipynb" TargetMode="Externa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itsdimash/IBM-Data-Science-Capstone-SpaceX/blob/main/labs-jupyter-spacex-Data-wrangling.ipynb" TargetMode="Externa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tsdimash/IBM-Data-Science-Capstone-SpaceX/blob/main/SpaceX_Capstone_Analysis.ipynb" TargetMode="Externa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itsdimash/IBM-Data-Science-Capstone-SpaceX/blob/main/SpaceX_Capstone_Analysis.ipynb" TargetMode="Externa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tsdimash/IBM-Data-Science-Capstone-SpaceX/blob/main/lab_jupyter_launch_site_location_completed.ipynb" TargetMode="External"/><Relationship Id="rId6" Type="http://schemas.openxmlformats.org/officeDocument/2006/relationships/hyperlink" Target="https://github.com/itsdimash/IBM-Data-Science-Capstone-SpaceX/blob/main/spacex_dash_app.py" TargetMode="External"/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4" Type="http://schemas.openxmlformats.org/officeDocument/2006/relationships/image" Target="../media/image-11-3.png"/><Relationship Id="rId5" Type="http://schemas.openxmlformats.org/officeDocument/2006/relationships/image" Target="../media/image-11-4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itsdimash/IBM-Data-Science-Capstone-SpaceX/blob/main/SpaceX_Capstone_Analysis.ipynb" TargetMode="Externa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itsdimash/IBM-Data-Science-Capstone-SpaceX" TargetMode="External"/><Relationship Id="rId2" Type="http://schemas.openxmlformats.org/officeDocument/2006/relationships/hyperlink" Target="https://github.com/itsdimash/IBM-Data-Science-Capstone-SpaceX/blob/main/jupyter-labs-spacex-data-collection-api.ipynb" TargetMode="External"/><Relationship Id="rId3" Type="http://schemas.openxmlformats.org/officeDocument/2006/relationships/hyperlink" Target="https://github.com/itsdimash/IBM-Data-Science-Capstone-SpaceX/blob/main/jupyter-labs-webscraping.ipynb" TargetMode="External"/><Relationship Id="rId4" Type="http://schemas.openxmlformats.org/officeDocument/2006/relationships/hyperlink" Target="https://github.com/itsdimash/IBM-Data-Science-Capstone-SpaceX/blob/main/labs-jupyter-spacex-Data-wrangling.ipynb" TargetMode="External"/><Relationship Id="rId5" Type="http://schemas.openxmlformats.org/officeDocument/2006/relationships/hyperlink" Target="https://github.com/itsdimash/IBM-Data-Science-Capstone-SpaceX/blob/main/SpaceX_Capstone_Analysis.ipynb" TargetMode="External"/><Relationship Id="rId6" Type="http://schemas.openxmlformats.org/officeDocument/2006/relationships/hyperlink" Target="https://github.com/itsdimash/IBM-Data-Science-Capstone-SpaceX/blob/main/SpaceX_Capstone_Analysis.ipynb" TargetMode="External"/><Relationship Id="rId7" Type="http://schemas.openxmlformats.org/officeDocument/2006/relationships/hyperlink" Target="https://github.com/itsdimash/IBM-Data-Science-Capstone-SpaceX/blob/main/lab_jupyter_launch_site_location_completed.ipynb" TargetMode="External"/><Relationship Id="rId8" Type="http://schemas.openxmlformats.org/officeDocument/2006/relationships/hyperlink" Target="https://github.com/itsdimash/IBM-Data-Science-Capstone-SpaceX/blob/main/spacex_dash_app.py" TargetMode="External"/><Relationship Id="rId9" Type="http://schemas.openxmlformats.org/officeDocument/2006/relationships/hyperlink" Target="https://github.com/itsdimash/IBM-Data-Science-Capstone-SpaceX/blob/main/SpaceX_Capstone_Analysis.ipynb" TargetMode="External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rbit-1"/>
          <p:cNvSpPr/>
          <p:nvPr/>
        </p:nvSpPr>
        <p:spPr>
          <a:xfrm>
            <a:off x="6126480" y="137160"/>
            <a:ext cx="6583680" cy="6583680"/>
          </a:xfrm>
          <a:prstGeom prst="ellips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3" name="Orbit-2"/>
          <p:cNvSpPr/>
          <p:nvPr/>
        </p:nvSpPr>
        <p:spPr>
          <a:xfrm>
            <a:off x="7132320" y="1143000"/>
            <a:ext cx="4572000" cy="4572000"/>
          </a:xfrm>
          <a:prstGeom prst="ellips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4" name="Orbit-3"/>
          <p:cNvSpPr/>
          <p:nvPr/>
        </p:nvSpPr>
        <p:spPr>
          <a:xfrm>
            <a:off x="8092440" y="2103120"/>
            <a:ext cx="2651760" cy="2651760"/>
          </a:xfrm>
          <a:prstGeom prst="ellips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5" name="Satellite-4"/>
          <p:cNvSpPr/>
          <p:nvPr/>
        </p:nvSpPr>
        <p:spPr>
          <a:xfrm>
            <a:off x="11750040" y="960120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Satellite-5"/>
          <p:cNvSpPr/>
          <p:nvPr/>
        </p:nvSpPr>
        <p:spPr>
          <a:xfrm>
            <a:off x="7818120" y="4343400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Rocket badge"/>
          <p:cNvSpPr/>
          <p:nvPr/>
        </p:nvSpPr>
        <p:spPr>
          <a:xfrm>
            <a:off x="8732520" y="2743200"/>
            <a:ext cx="1371600" cy="13716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0" descr="rock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3108960"/>
            <a:ext cx="640080" cy="640080"/>
          </a:xfrm>
          <a:prstGeom prst="rect">
            <a:avLst/>
          </a:prstGeom>
        </p:spPr>
      </p:pic>
      <p:sp>
        <p:nvSpPr>
          <p:cNvPr id="9" name="Text 1"/>
          <p:cNvSpPr/>
          <p:nvPr>
            <p:ph idx="101" type="title" hasCustomPrompt="1"/>
          </p:nvPr>
        </p:nvSpPr>
        <p:spPr>
          <a:xfrm>
            <a:off x="731520" y="1920240"/>
            <a:ext cx="6309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Predicting SpaceX Falcon 9 First-Stage Landings</a:t>
            </a:r>
            <a:endParaRPr lang="en-US" sz="44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4069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accent4"/>
                </a:solidFill>
              </a:rPr>
              <a:t>IBM Applied Data Science Capstone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4617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Dimash  ·  SDU University, Almaty  ·  October 2026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52578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chemeClr val="bg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https://github.com/itsdimash/IBM-Data-Science-Capstone-SpaceX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Executive Summary</a:t>
            </a:r>
            <a:endParaRPr lang="en-US" sz="3200" dirty="0"/>
          </a:p>
        </p:txBody>
      </p:sp>
      <p:sp>
        <p:nvSpPr>
          <p:cNvPr id="3" name="Card-6"/>
          <p:cNvSpPr/>
          <p:nvPr/>
        </p:nvSpPr>
        <p:spPr>
          <a:xfrm>
            <a:off x="548640" y="1325880"/>
            <a:ext cx="3511296" cy="3611880"/>
          </a:xfrm>
          <a:prstGeom prst="roundRect">
            <a:avLst>
              <a:gd name="adj" fmla="val 312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IconBg-7"/>
          <p:cNvSpPr/>
          <p:nvPr/>
        </p:nvSpPr>
        <p:spPr>
          <a:xfrm>
            <a:off x="777240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flask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1708099"/>
            <a:ext cx="241402" cy="2414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554480"/>
            <a:ext cx="2414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Methods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31720"/>
            <a:ext cx="296265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SpaceX REST API and Wikipedia web scraping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Wrangling into a binary landing label (Class)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EDA with charts and SQL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Folium map and Plotly Dash dashboard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Four tuned classifiers</a:t>
            </a:r>
            <a:endParaRPr lang="en-US" sz="1500" dirty="0"/>
          </a:p>
        </p:txBody>
      </p:sp>
      <p:sp>
        <p:nvSpPr>
          <p:cNvPr id="8" name="Card-8"/>
          <p:cNvSpPr/>
          <p:nvPr/>
        </p:nvSpPr>
        <p:spPr>
          <a:xfrm>
            <a:off x="4338828" y="1325880"/>
            <a:ext cx="3511296" cy="3611880"/>
          </a:xfrm>
          <a:prstGeom prst="roundRect">
            <a:avLst>
              <a:gd name="adj" fmla="val 312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IconBg-9"/>
          <p:cNvSpPr/>
          <p:nvPr/>
        </p:nvSpPr>
        <p:spPr>
          <a:xfrm>
            <a:off x="4567428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char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1047" y="1708099"/>
            <a:ext cx="241402" cy="24140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253228" y="1554480"/>
            <a:ext cx="2414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Key results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613148" y="2331720"/>
            <a:ext cx="296265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Success rose from 0% (2013) to 84% (2020)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Orbit, launch site and payload all shift the odds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SVM, KNN and Logistic Regression tie at 83.3% test accuracy</a:t>
            </a:r>
            <a:endParaRPr lang="en-US" sz="1500" dirty="0"/>
          </a:p>
        </p:txBody>
      </p:sp>
      <p:sp>
        <p:nvSpPr>
          <p:cNvPr id="13" name="Card-10"/>
          <p:cNvSpPr/>
          <p:nvPr/>
        </p:nvSpPr>
        <p:spPr>
          <a:xfrm>
            <a:off x="8129016" y="1325880"/>
            <a:ext cx="3511296" cy="3611880"/>
          </a:xfrm>
          <a:prstGeom prst="roundRect">
            <a:avLst>
              <a:gd name="adj" fmla="val 312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IconBg-11"/>
          <p:cNvSpPr/>
          <p:nvPr/>
        </p:nvSpPr>
        <p:spPr>
          <a:xfrm>
            <a:off x="8357616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flag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1235" y="1708099"/>
            <a:ext cx="241402" cy="24140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43416" y="1554480"/>
            <a:ext cx="2414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Bottom line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403336" y="2331720"/>
            <a:ext cx="296265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Landing success can be predicted from pre-launch features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predicted landing is a predicted reuse, so a cost estimate follows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Competing bidders can price against SpaceX with it</a:t>
            </a:r>
            <a:endParaRPr lang="en-US" sz="1500" dirty="0"/>
          </a:p>
        </p:txBody>
      </p:sp>
      <p:sp>
        <p:nvSpPr>
          <p:cNvPr id="18" name="Card-12"/>
          <p:cNvSpPr/>
          <p:nvPr/>
        </p:nvSpPr>
        <p:spPr>
          <a:xfrm>
            <a:off x="548640" y="5120640"/>
            <a:ext cx="3511296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4"/>
          <p:cNvSpPr txBox="1"/>
          <p:nvPr/>
        </p:nvSpPr>
        <p:spPr>
          <a:xfrm>
            <a:off x="822960" y="512064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</a:t>
            </a:r>
            <a:endParaRPr lang="en-US" sz="3200" dirty="0"/>
          </a:p>
        </p:txBody>
      </p:sp>
      <p:sp>
        <p:nvSpPr>
          <p:cNvPr id="20" name="Text 15"/>
          <p:cNvSpPr txBox="1"/>
          <p:nvPr/>
        </p:nvSpPr>
        <p:spPr>
          <a:xfrm>
            <a:off x="2331720" y="5120640"/>
            <a:ext cx="14996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launches analysed</a:t>
            </a:r>
            <a:endParaRPr lang="en-US" sz="1500" dirty="0"/>
          </a:p>
        </p:txBody>
      </p:sp>
      <p:sp>
        <p:nvSpPr>
          <p:cNvPr id="21" name="Card-13"/>
          <p:cNvSpPr/>
          <p:nvPr/>
        </p:nvSpPr>
        <p:spPr>
          <a:xfrm>
            <a:off x="4338828" y="5120640"/>
            <a:ext cx="3511296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17"/>
          <p:cNvSpPr txBox="1"/>
          <p:nvPr/>
        </p:nvSpPr>
        <p:spPr>
          <a:xfrm>
            <a:off x="4613148" y="512064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83.3%</a:t>
            </a:r>
            <a:endParaRPr lang="en-US" sz="3200" dirty="0"/>
          </a:p>
        </p:txBody>
      </p:sp>
      <p:sp>
        <p:nvSpPr>
          <p:cNvPr id="23" name="Text 18"/>
          <p:cNvSpPr txBox="1"/>
          <p:nvPr/>
        </p:nvSpPr>
        <p:spPr>
          <a:xfrm>
            <a:off x="6121908" y="5120640"/>
            <a:ext cx="14996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test accuracy of the best models</a:t>
            </a:r>
            <a:endParaRPr lang="en-US" sz="1500" dirty="0"/>
          </a:p>
        </p:txBody>
      </p:sp>
      <p:sp>
        <p:nvSpPr>
          <p:cNvPr id="24" name="Card-14"/>
          <p:cNvSpPr/>
          <p:nvPr/>
        </p:nvSpPr>
        <p:spPr>
          <a:xfrm>
            <a:off x="8129016" y="5120640"/>
            <a:ext cx="3511296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Text 20"/>
          <p:cNvSpPr txBox="1"/>
          <p:nvPr/>
        </p:nvSpPr>
        <p:spPr>
          <a:xfrm>
            <a:off x="8403336" y="512064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66.7%</a:t>
            </a:r>
            <a:endParaRPr lang="en-US" sz="3200" dirty="0"/>
          </a:p>
        </p:txBody>
      </p:sp>
      <p:sp>
        <p:nvSpPr>
          <p:cNvPr id="26" name="Text 21"/>
          <p:cNvSpPr txBox="1"/>
          <p:nvPr/>
        </p:nvSpPr>
        <p:spPr>
          <a:xfrm>
            <a:off x="9912096" y="5120640"/>
            <a:ext cx="14996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overall landing success rate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Introduction</a:t>
            </a:r>
            <a:endParaRPr lang="en-US" sz="3200" dirty="0"/>
          </a:p>
        </p:txBody>
      </p:sp>
      <p:sp>
        <p:nvSpPr>
          <p:cNvPr id="3" name="Card-15"/>
          <p:cNvSpPr/>
          <p:nvPr/>
        </p:nvSpPr>
        <p:spPr>
          <a:xfrm>
            <a:off x="548640" y="1325880"/>
            <a:ext cx="6675120" cy="4846320"/>
          </a:xfrm>
          <a:prstGeom prst="roundRect">
            <a:avLst>
              <a:gd name="adj" fmla="val 22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IconBg-16"/>
          <p:cNvSpPr/>
          <p:nvPr/>
        </p:nvSpPr>
        <p:spPr>
          <a:xfrm>
            <a:off x="822960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rocke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1753819"/>
            <a:ext cx="241402" cy="2414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60020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Project background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468880"/>
            <a:ext cx="6035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SpaceX advertises Falcon 9 launches at about $62M; other providers charge $165M or more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Most of the saving comes from reusing the first stage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If we can predict whether stage 1 lands, we can estimate the cost of a launch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That is valuable for any company that wants to bid against SpaceX</a:t>
            </a:r>
            <a:endParaRPr lang="en-US" sz="1800" dirty="0"/>
          </a:p>
        </p:txBody>
      </p:sp>
      <p:sp>
        <p:nvSpPr>
          <p:cNvPr id="8" name="Problem card"/>
          <p:cNvSpPr/>
          <p:nvPr/>
        </p:nvSpPr>
        <p:spPr>
          <a:xfrm>
            <a:off x="7498080" y="1325880"/>
            <a:ext cx="4142232" cy="2468880"/>
          </a:xfrm>
          <a:prstGeom prst="roundRect">
            <a:avLst>
              <a:gd name="adj" fmla="val 4444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77240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4"/>
                </a:solidFill>
              </a:rPr>
              <a:t>PROBLEM STATEMENT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772400" y="1920240"/>
            <a:ext cx="3611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we predict whether the Falcon 9 first stage will land successfully, using only information known before launch?</a:t>
            </a:r>
            <a:endParaRPr lang="en-US" sz="2000" dirty="0"/>
          </a:p>
        </p:txBody>
      </p:sp>
      <p:sp>
        <p:nvSpPr>
          <p:cNvPr id="11" name="Card-17"/>
          <p:cNvSpPr/>
          <p:nvPr/>
        </p:nvSpPr>
        <p:spPr>
          <a:xfrm>
            <a:off x="7498080" y="3977640"/>
            <a:ext cx="4142232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777240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QUESTIONS WE ANSWER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0" y="4526280"/>
            <a:ext cx="3611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Which features drive landing success?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Does success improve over time and by site?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Which classifier predicts best?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Project Journey</a:t>
            </a:r>
            <a:endParaRPr lang="en-US" sz="3200" dirty="0"/>
          </a:p>
        </p:txBody>
      </p:sp>
      <p:sp>
        <p:nvSpPr>
          <p:cNvPr id="3" name="Journey line"/>
          <p:cNvSpPr/>
          <p:nvPr/>
        </p:nvSpPr>
        <p:spPr>
          <a:xfrm>
            <a:off x="1472946" y="2331720"/>
            <a:ext cx="9243060" cy="0"/>
          </a:xfrm>
          <a:prstGeom prst="line">
            <a:avLst/>
          </a:prstGeom>
          <a:noFill/>
          <a:ln w="38100">
            <a:solidFill>
              <a:schemeClr val="accent6"/>
            </a:solidFill>
            <a:prstDash val="dash"/>
          </a:ln>
        </p:spPr>
      </p:sp>
      <p:sp>
        <p:nvSpPr>
          <p:cNvPr id="4" name="IconBg-18"/>
          <p:cNvSpPr/>
          <p:nvPr/>
        </p:nvSpPr>
        <p:spPr>
          <a:xfrm>
            <a:off x="1015746" y="18745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db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1778" y="2130552"/>
            <a:ext cx="402336" cy="402336"/>
          </a:xfrm>
          <a:prstGeom prst="rect">
            <a:avLst/>
          </a:prstGeom>
        </p:spPr>
      </p:pic>
      <p:sp>
        <p:nvSpPr>
          <p:cNvPr id="6" name="Card-19"/>
          <p:cNvSpPr/>
          <p:nvPr/>
        </p:nvSpPr>
        <p:spPr>
          <a:xfrm>
            <a:off x="640080" y="3108960"/>
            <a:ext cx="1665732" cy="2011680"/>
          </a:xfrm>
          <a:prstGeom prst="roundRect">
            <a:avLst>
              <a:gd name="adj" fmla="val 658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77240" y="3246120"/>
            <a:ext cx="13914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Collect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703320"/>
            <a:ext cx="13914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SpaceX API and Wikipedia scraping</a:t>
            </a:r>
            <a:endParaRPr lang="en-US" sz="1400" dirty="0"/>
          </a:p>
        </p:txBody>
      </p:sp>
      <p:sp>
        <p:nvSpPr>
          <p:cNvPr id="9" name="IconBg-20"/>
          <p:cNvSpPr/>
          <p:nvPr/>
        </p:nvSpPr>
        <p:spPr>
          <a:xfrm>
            <a:off x="2864358" y="18745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broom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0390" y="2130552"/>
            <a:ext cx="402336" cy="402336"/>
          </a:xfrm>
          <a:prstGeom prst="rect">
            <a:avLst/>
          </a:prstGeom>
        </p:spPr>
      </p:pic>
      <p:sp>
        <p:nvSpPr>
          <p:cNvPr id="11" name="Card-21"/>
          <p:cNvSpPr/>
          <p:nvPr/>
        </p:nvSpPr>
        <p:spPr>
          <a:xfrm>
            <a:off x="2488692" y="3108960"/>
            <a:ext cx="1665732" cy="2011680"/>
          </a:xfrm>
          <a:prstGeom prst="roundRect">
            <a:avLst>
              <a:gd name="adj" fmla="val 658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2625852" y="3246120"/>
            <a:ext cx="13914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Wrangle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2625852" y="3703320"/>
            <a:ext cx="13914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Clean data, create the Class label</a:t>
            </a:r>
            <a:endParaRPr lang="en-US" sz="1400" dirty="0"/>
          </a:p>
        </p:txBody>
      </p:sp>
      <p:sp>
        <p:nvSpPr>
          <p:cNvPr id="14" name="IconBg-22"/>
          <p:cNvSpPr/>
          <p:nvPr/>
        </p:nvSpPr>
        <p:spPr>
          <a:xfrm>
            <a:off x="4712970" y="18745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char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9002" y="2130552"/>
            <a:ext cx="402336" cy="402336"/>
          </a:xfrm>
          <a:prstGeom prst="rect">
            <a:avLst/>
          </a:prstGeom>
        </p:spPr>
      </p:pic>
      <p:sp>
        <p:nvSpPr>
          <p:cNvPr id="16" name="Card-23"/>
          <p:cNvSpPr/>
          <p:nvPr/>
        </p:nvSpPr>
        <p:spPr>
          <a:xfrm>
            <a:off x="4337304" y="3108960"/>
            <a:ext cx="1665732" cy="2011680"/>
          </a:xfrm>
          <a:prstGeom prst="roundRect">
            <a:avLst>
              <a:gd name="adj" fmla="val 658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2"/>
          <p:cNvSpPr txBox="1"/>
          <p:nvPr/>
        </p:nvSpPr>
        <p:spPr>
          <a:xfrm>
            <a:off x="4474464" y="3246120"/>
            <a:ext cx="13914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Explore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4474464" y="3703320"/>
            <a:ext cx="13914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Charts and SQL queries</a:t>
            </a:r>
            <a:endParaRPr lang="en-US" sz="1400" dirty="0"/>
          </a:p>
        </p:txBody>
      </p:sp>
      <p:sp>
        <p:nvSpPr>
          <p:cNvPr id="19" name="IconBg-24"/>
          <p:cNvSpPr/>
          <p:nvPr/>
        </p:nvSpPr>
        <p:spPr>
          <a:xfrm>
            <a:off x="6561582" y="18745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3" descr="map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7614" y="2130552"/>
            <a:ext cx="402336" cy="402336"/>
          </a:xfrm>
          <a:prstGeom prst="rect">
            <a:avLst/>
          </a:prstGeom>
        </p:spPr>
      </p:pic>
      <p:sp>
        <p:nvSpPr>
          <p:cNvPr id="21" name="Card-25"/>
          <p:cNvSpPr/>
          <p:nvPr/>
        </p:nvSpPr>
        <p:spPr>
          <a:xfrm>
            <a:off x="6185916" y="3108960"/>
            <a:ext cx="1665732" cy="2011680"/>
          </a:xfrm>
          <a:prstGeom prst="roundRect">
            <a:avLst>
              <a:gd name="adj" fmla="val 658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16"/>
          <p:cNvSpPr txBox="1"/>
          <p:nvPr/>
        </p:nvSpPr>
        <p:spPr>
          <a:xfrm>
            <a:off x="6323076" y="3246120"/>
            <a:ext cx="13914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Visualize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6323076" y="3703320"/>
            <a:ext cx="13914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Folium map and Dash dashboard</a:t>
            </a:r>
            <a:endParaRPr lang="en-US" sz="1400" dirty="0"/>
          </a:p>
        </p:txBody>
      </p:sp>
      <p:sp>
        <p:nvSpPr>
          <p:cNvPr id="24" name="IconBg-26"/>
          <p:cNvSpPr/>
          <p:nvPr/>
        </p:nvSpPr>
        <p:spPr>
          <a:xfrm>
            <a:off x="8410194" y="18745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mage 4" descr="brain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6226" y="2130552"/>
            <a:ext cx="402336" cy="402336"/>
          </a:xfrm>
          <a:prstGeom prst="rect">
            <a:avLst/>
          </a:prstGeom>
        </p:spPr>
      </p:pic>
      <p:sp>
        <p:nvSpPr>
          <p:cNvPr id="26" name="Card-27"/>
          <p:cNvSpPr/>
          <p:nvPr/>
        </p:nvSpPr>
        <p:spPr>
          <a:xfrm>
            <a:off x="8034528" y="3108960"/>
            <a:ext cx="1665732" cy="2011680"/>
          </a:xfrm>
          <a:prstGeom prst="roundRect">
            <a:avLst>
              <a:gd name="adj" fmla="val 658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Text 20"/>
          <p:cNvSpPr txBox="1"/>
          <p:nvPr/>
        </p:nvSpPr>
        <p:spPr>
          <a:xfrm>
            <a:off x="8171688" y="3246120"/>
            <a:ext cx="13914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Predict</a:t>
            </a:r>
            <a:endParaRPr lang="en-US" sz="1800" dirty="0"/>
          </a:p>
        </p:txBody>
      </p:sp>
      <p:sp>
        <p:nvSpPr>
          <p:cNvPr id="28" name="Text 21"/>
          <p:cNvSpPr txBox="1"/>
          <p:nvPr/>
        </p:nvSpPr>
        <p:spPr>
          <a:xfrm>
            <a:off x="8171688" y="3703320"/>
            <a:ext cx="13914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Four classifiers, tuned</a:t>
            </a:r>
            <a:endParaRPr lang="en-US" sz="1400" dirty="0"/>
          </a:p>
        </p:txBody>
      </p:sp>
      <p:sp>
        <p:nvSpPr>
          <p:cNvPr id="29" name="IconBg-28"/>
          <p:cNvSpPr/>
          <p:nvPr/>
        </p:nvSpPr>
        <p:spPr>
          <a:xfrm>
            <a:off x="10258806" y="1874520"/>
            <a:ext cx="914400" cy="9144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0" name="Image 5" descr="flag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4838" y="2130552"/>
            <a:ext cx="402336" cy="402336"/>
          </a:xfrm>
          <a:prstGeom prst="rect">
            <a:avLst/>
          </a:prstGeom>
        </p:spPr>
      </p:pic>
      <p:sp>
        <p:nvSpPr>
          <p:cNvPr id="31" name="Card-29"/>
          <p:cNvSpPr/>
          <p:nvPr/>
        </p:nvSpPr>
        <p:spPr>
          <a:xfrm>
            <a:off x="9883140" y="3108960"/>
            <a:ext cx="1665732" cy="2011680"/>
          </a:xfrm>
          <a:prstGeom prst="roundRect">
            <a:avLst>
              <a:gd name="adj" fmla="val 658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2" name="Text 24"/>
          <p:cNvSpPr txBox="1"/>
          <p:nvPr/>
        </p:nvSpPr>
        <p:spPr>
          <a:xfrm>
            <a:off x="10020300" y="3246120"/>
            <a:ext cx="13914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Conclude</a:t>
            </a:r>
            <a:endParaRPr lang="en-US" sz="1800" dirty="0"/>
          </a:p>
        </p:txBody>
      </p:sp>
      <p:sp>
        <p:nvSpPr>
          <p:cNvPr id="33" name="Text 25"/>
          <p:cNvSpPr txBox="1"/>
          <p:nvPr/>
        </p:nvSpPr>
        <p:spPr>
          <a:xfrm>
            <a:off x="10020300" y="3703320"/>
            <a:ext cx="13914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Findings and insights</a:t>
            </a:r>
            <a:endParaRPr lang="en-US" sz="140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54864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step feeds the next: one question, one dataset, one answer.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rbit-30"/>
          <p:cNvSpPr/>
          <p:nvPr/>
        </p:nvSpPr>
        <p:spPr>
          <a:xfrm>
            <a:off x="6126480" y="137160"/>
            <a:ext cx="6583680" cy="6583680"/>
          </a:xfrm>
          <a:prstGeom prst="ellips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3" name="Orbit-31"/>
          <p:cNvSpPr/>
          <p:nvPr/>
        </p:nvSpPr>
        <p:spPr>
          <a:xfrm>
            <a:off x="7132320" y="1143000"/>
            <a:ext cx="4572000" cy="4572000"/>
          </a:xfrm>
          <a:prstGeom prst="ellips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4" name="Orbit-32"/>
          <p:cNvSpPr/>
          <p:nvPr/>
        </p:nvSpPr>
        <p:spPr>
          <a:xfrm>
            <a:off x="8092440" y="2103120"/>
            <a:ext cx="2651760" cy="2651760"/>
          </a:xfrm>
          <a:prstGeom prst="ellips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5" name="Satellite-33"/>
          <p:cNvSpPr/>
          <p:nvPr/>
        </p:nvSpPr>
        <p:spPr>
          <a:xfrm>
            <a:off x="11750040" y="960120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Satellite-34"/>
          <p:cNvSpPr/>
          <p:nvPr/>
        </p:nvSpPr>
        <p:spPr>
          <a:xfrm>
            <a:off x="7818120" y="4343400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731520" y="26517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Methodology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79476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Data collection · Wrangling · EDA · Interactive analytics · Modelling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Data Collection: SpaceX API</a:t>
            </a:r>
            <a:endParaRPr lang="en-US" sz="3200" dirty="0"/>
          </a:p>
        </p:txBody>
      </p:sp>
      <p:sp>
        <p:nvSpPr>
          <p:cNvPr id="3" name="Card-35"/>
          <p:cNvSpPr/>
          <p:nvPr/>
        </p:nvSpPr>
        <p:spPr>
          <a:xfrm>
            <a:off x="548640" y="1325880"/>
            <a:ext cx="1889150" cy="2514600"/>
          </a:xfrm>
          <a:prstGeom prst="roundRect">
            <a:avLst>
              <a:gd name="adj" fmla="val 580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tep-36"/>
          <p:cNvSpPr txBox="1"/>
          <p:nvPr/>
        </p:nvSpPr>
        <p:spPr>
          <a:xfrm>
            <a:off x="731520" y="15087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11680"/>
            <a:ext cx="15233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Request launches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14600"/>
            <a:ext cx="152339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GET /v4/launches/past with the requests library</a:t>
            </a:r>
            <a:endParaRPr lang="en-US" sz="1400" dirty="0"/>
          </a:p>
        </p:txBody>
      </p:sp>
      <p:sp>
        <p:nvSpPr>
          <p:cNvPr id="7" name="Arrow-37"/>
          <p:cNvSpPr/>
          <p:nvPr/>
        </p:nvSpPr>
        <p:spPr>
          <a:xfrm>
            <a:off x="2483510" y="2583180"/>
            <a:ext cx="32004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8" name="Card-38"/>
          <p:cNvSpPr/>
          <p:nvPr/>
        </p:nvSpPr>
        <p:spPr>
          <a:xfrm>
            <a:off x="2849270" y="1325880"/>
            <a:ext cx="1889150" cy="2514600"/>
          </a:xfrm>
          <a:prstGeom prst="roundRect">
            <a:avLst>
              <a:gd name="adj" fmla="val 580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tep-39"/>
          <p:cNvSpPr txBox="1"/>
          <p:nvPr/>
        </p:nvSpPr>
        <p:spPr>
          <a:xfrm>
            <a:off x="3032150" y="15087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032150" y="2011680"/>
            <a:ext cx="15233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Parse JSON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032150" y="2514600"/>
            <a:ext cx="152339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response.json() then json_normalize() into a DataFrame</a:t>
            </a:r>
            <a:endParaRPr lang="en-US" sz="1400" dirty="0"/>
          </a:p>
        </p:txBody>
      </p:sp>
      <p:sp>
        <p:nvSpPr>
          <p:cNvPr id="12" name="Arrow-40"/>
          <p:cNvSpPr/>
          <p:nvPr/>
        </p:nvSpPr>
        <p:spPr>
          <a:xfrm>
            <a:off x="4784141" y="2583180"/>
            <a:ext cx="32004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3" name="Card-41"/>
          <p:cNvSpPr/>
          <p:nvPr/>
        </p:nvSpPr>
        <p:spPr>
          <a:xfrm>
            <a:off x="5149901" y="1325880"/>
            <a:ext cx="1889150" cy="2514600"/>
          </a:xfrm>
          <a:prstGeom prst="roundRect">
            <a:avLst>
              <a:gd name="adj" fmla="val 580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tep-42"/>
          <p:cNvSpPr txBox="1"/>
          <p:nvPr/>
        </p:nvSpPr>
        <p:spPr>
          <a:xfrm>
            <a:off x="5332781" y="15087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332781" y="2011680"/>
            <a:ext cx="15233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Resolve IDs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332781" y="2514600"/>
            <a:ext cx="152339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Helper functions call /rockets, /launchpads, /payloads and /cores</a:t>
            </a:r>
            <a:endParaRPr lang="en-US" sz="1400" dirty="0"/>
          </a:p>
        </p:txBody>
      </p:sp>
      <p:sp>
        <p:nvSpPr>
          <p:cNvPr id="17" name="Arrow-43"/>
          <p:cNvSpPr/>
          <p:nvPr/>
        </p:nvSpPr>
        <p:spPr>
          <a:xfrm>
            <a:off x="7084771" y="2583180"/>
            <a:ext cx="32004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8" name="Card-44"/>
          <p:cNvSpPr/>
          <p:nvPr/>
        </p:nvSpPr>
        <p:spPr>
          <a:xfrm>
            <a:off x="7450531" y="1325880"/>
            <a:ext cx="1889150" cy="2514600"/>
          </a:xfrm>
          <a:prstGeom prst="roundRect">
            <a:avLst>
              <a:gd name="adj" fmla="val 580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tep-45"/>
          <p:cNvSpPr txBox="1"/>
          <p:nvPr/>
        </p:nvSpPr>
        <p:spPr>
          <a:xfrm>
            <a:off x="7633411" y="15087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633411" y="2011680"/>
            <a:ext cx="15233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Falcon 9 only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633411" y="2514600"/>
            <a:ext cx="152339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Drop Falcon 1, multi-core and multi-payload launches</a:t>
            </a:r>
            <a:endParaRPr lang="en-US" sz="1400" dirty="0"/>
          </a:p>
        </p:txBody>
      </p:sp>
      <p:sp>
        <p:nvSpPr>
          <p:cNvPr id="22" name="Arrow-46"/>
          <p:cNvSpPr/>
          <p:nvPr/>
        </p:nvSpPr>
        <p:spPr>
          <a:xfrm>
            <a:off x="9385402" y="2583180"/>
            <a:ext cx="32004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3" name="Card-47"/>
          <p:cNvSpPr/>
          <p:nvPr/>
        </p:nvSpPr>
        <p:spPr>
          <a:xfrm>
            <a:off x="9751162" y="1325880"/>
            <a:ext cx="1889150" cy="2514600"/>
          </a:xfrm>
          <a:prstGeom prst="roundRect">
            <a:avLst>
              <a:gd name="adj" fmla="val 580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tep-48"/>
          <p:cNvSpPr txBox="1"/>
          <p:nvPr/>
        </p:nvSpPr>
        <p:spPr>
          <a:xfrm>
            <a:off x="9934042" y="15087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934042" y="2011680"/>
            <a:ext cx="15233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Save dataset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934042" y="2514600"/>
            <a:ext cx="152339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Flight number, site, orbit, payload, outcome per launch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KEY PHRASES</a:t>
            </a:r>
            <a:endParaRPr lang="en-US" sz="1300" dirty="0"/>
          </a:p>
        </p:txBody>
      </p:sp>
      <p:sp>
        <p:nvSpPr>
          <p:cNvPr id="28" name="Chip-49"/>
          <p:cNvSpPr txBox="1"/>
          <p:nvPr/>
        </p:nvSpPr>
        <p:spPr>
          <a:xfrm>
            <a:off x="548640" y="4480560"/>
            <a:ext cx="1709928" cy="384048"/>
          </a:xfrm>
          <a:prstGeom prst="roundRect">
            <a:avLst>
              <a:gd name="adj" fmla="val 23810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requests.get()</a:t>
            </a:r>
            <a:endParaRPr lang="en-US" sz="1400" dirty="0"/>
          </a:p>
        </p:txBody>
      </p:sp>
      <p:sp>
        <p:nvSpPr>
          <p:cNvPr id="29" name="Chip-50"/>
          <p:cNvSpPr txBox="1"/>
          <p:nvPr/>
        </p:nvSpPr>
        <p:spPr>
          <a:xfrm>
            <a:off x="2441448" y="4480560"/>
            <a:ext cx="1709928" cy="384048"/>
          </a:xfrm>
          <a:prstGeom prst="roundRect">
            <a:avLst>
              <a:gd name="adj" fmla="val 23810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json_normalize</a:t>
            </a:r>
            <a:endParaRPr lang="en-US" sz="1400" dirty="0"/>
          </a:p>
        </p:txBody>
      </p:sp>
      <p:sp>
        <p:nvSpPr>
          <p:cNvPr id="30" name="Chip-51"/>
          <p:cNvSpPr txBox="1"/>
          <p:nvPr/>
        </p:nvSpPr>
        <p:spPr>
          <a:xfrm>
            <a:off x="4334256" y="4480560"/>
            <a:ext cx="1805940" cy="384048"/>
          </a:xfrm>
          <a:prstGeom prst="roundRect">
            <a:avLst>
              <a:gd name="adj" fmla="val 23810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Falcon 9 filter</a:t>
            </a:r>
            <a:endParaRPr lang="en-US" sz="1400" dirty="0"/>
          </a:p>
        </p:txBody>
      </p:sp>
      <p:sp>
        <p:nvSpPr>
          <p:cNvPr id="31" name="Chip-52"/>
          <p:cNvSpPr txBox="1"/>
          <p:nvPr/>
        </p:nvSpPr>
        <p:spPr>
          <a:xfrm>
            <a:off x="6323076" y="4480560"/>
            <a:ext cx="941832" cy="384048"/>
          </a:xfrm>
          <a:prstGeom prst="roundRect">
            <a:avLst>
              <a:gd name="adj" fmla="val 23810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to_csv</a:t>
            </a:r>
            <a:endParaRPr lang="en-US" sz="1400" dirty="0"/>
          </a:p>
        </p:txBody>
      </p:sp>
      <p:sp>
        <p:nvSpPr>
          <p:cNvPr id="32" name="Card-53"/>
          <p:cNvSpPr/>
          <p:nvPr/>
        </p:nvSpPr>
        <p:spPr>
          <a:xfrm>
            <a:off x="548640" y="5486400"/>
            <a:ext cx="11091672" cy="502920"/>
          </a:xfrm>
          <a:prstGeom prst="roundRect">
            <a:avLst>
              <a:gd name="adj" fmla="val 2181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33" name="Image 0" descr="GitHu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5600700"/>
            <a:ext cx="274320" cy="274320"/>
          </a:xfrm>
          <a:prstGeom prst="rect">
            <a:avLst/>
          </a:prstGeom>
        </p:spPr>
      </p:pic>
      <p:sp>
        <p:nvSpPr>
          <p:cNvPr id="34" name="Text 31"/>
          <p:cNvSpPr txBox="1"/>
          <p:nvPr/>
        </p:nvSpPr>
        <p:spPr>
          <a:xfrm>
            <a:off x="1143000" y="548640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GitHub  </a:t>
            </a:r>
            <a:pPr indent="0" marL="0">
              <a:buNone/>
            </a:pPr>
            <a:r>
              <a:rPr lang="en-US" sz="1200" u="sng" dirty="0">
                <a:solidFill>
                  <a:schemeClr val="accent2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https://github.com/itsdimash/IBM-Data-Science-Capstone-SpaceX/blob/main/jupyter-labs-spacex-data-collection-api.ipynb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Data Collection: Web Scraping</a:t>
            </a:r>
            <a:endParaRPr lang="en-US" sz="3200" dirty="0"/>
          </a:p>
        </p:txBody>
      </p:sp>
      <p:sp>
        <p:nvSpPr>
          <p:cNvPr id="3" name="Card-54"/>
          <p:cNvSpPr/>
          <p:nvPr/>
        </p:nvSpPr>
        <p:spPr>
          <a:xfrm>
            <a:off x="548640" y="1325880"/>
            <a:ext cx="1889150" cy="2514600"/>
          </a:xfrm>
          <a:prstGeom prst="roundRect">
            <a:avLst>
              <a:gd name="adj" fmla="val 580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tep-55"/>
          <p:cNvSpPr txBox="1"/>
          <p:nvPr/>
        </p:nvSpPr>
        <p:spPr>
          <a:xfrm>
            <a:off x="731520" y="15087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11680"/>
            <a:ext cx="15233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Request page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14600"/>
            <a:ext cx="152339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Download the Wikipedia "List of Falcon 9 and Falcon Heavy launches" snapshot</a:t>
            </a:r>
            <a:endParaRPr lang="en-US" sz="1400" dirty="0"/>
          </a:p>
        </p:txBody>
      </p:sp>
      <p:sp>
        <p:nvSpPr>
          <p:cNvPr id="7" name="Arrow-56"/>
          <p:cNvSpPr/>
          <p:nvPr/>
        </p:nvSpPr>
        <p:spPr>
          <a:xfrm>
            <a:off x="2483510" y="2583180"/>
            <a:ext cx="32004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8" name="Card-57"/>
          <p:cNvSpPr/>
          <p:nvPr/>
        </p:nvSpPr>
        <p:spPr>
          <a:xfrm>
            <a:off x="2849270" y="1325880"/>
            <a:ext cx="1889150" cy="2514600"/>
          </a:xfrm>
          <a:prstGeom prst="roundRect">
            <a:avLst>
              <a:gd name="adj" fmla="val 580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tep-58"/>
          <p:cNvSpPr txBox="1"/>
          <p:nvPr/>
        </p:nvSpPr>
        <p:spPr>
          <a:xfrm>
            <a:off x="3032150" y="15087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032150" y="2011680"/>
            <a:ext cx="15233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Parse HTML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032150" y="2514600"/>
            <a:ext cx="152339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BeautifulSoup builds the document tree</a:t>
            </a:r>
            <a:endParaRPr lang="en-US" sz="1400" dirty="0"/>
          </a:p>
        </p:txBody>
      </p:sp>
      <p:sp>
        <p:nvSpPr>
          <p:cNvPr id="12" name="Arrow-59"/>
          <p:cNvSpPr/>
          <p:nvPr/>
        </p:nvSpPr>
        <p:spPr>
          <a:xfrm>
            <a:off x="4784141" y="2583180"/>
            <a:ext cx="32004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3" name="Card-60"/>
          <p:cNvSpPr/>
          <p:nvPr/>
        </p:nvSpPr>
        <p:spPr>
          <a:xfrm>
            <a:off x="5149901" y="1325880"/>
            <a:ext cx="1889150" cy="2514600"/>
          </a:xfrm>
          <a:prstGeom prst="roundRect">
            <a:avLst>
              <a:gd name="adj" fmla="val 580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tep-61"/>
          <p:cNvSpPr txBox="1"/>
          <p:nvPr/>
        </p:nvSpPr>
        <p:spPr>
          <a:xfrm>
            <a:off x="5332781" y="15087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332781" y="2011680"/>
            <a:ext cx="15233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Find tables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332781" y="2514600"/>
            <a:ext cx="152339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Select the launch tables by their wikitable class</a:t>
            </a:r>
            <a:endParaRPr lang="en-US" sz="1400" dirty="0"/>
          </a:p>
        </p:txBody>
      </p:sp>
      <p:sp>
        <p:nvSpPr>
          <p:cNvPr id="17" name="Arrow-62"/>
          <p:cNvSpPr/>
          <p:nvPr/>
        </p:nvSpPr>
        <p:spPr>
          <a:xfrm>
            <a:off x="7084771" y="2583180"/>
            <a:ext cx="32004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8" name="Card-63"/>
          <p:cNvSpPr/>
          <p:nvPr/>
        </p:nvSpPr>
        <p:spPr>
          <a:xfrm>
            <a:off x="7450531" y="1325880"/>
            <a:ext cx="1889150" cy="2514600"/>
          </a:xfrm>
          <a:prstGeom prst="roundRect">
            <a:avLst>
              <a:gd name="adj" fmla="val 580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tep-64"/>
          <p:cNvSpPr txBox="1"/>
          <p:nvPr/>
        </p:nvSpPr>
        <p:spPr>
          <a:xfrm>
            <a:off x="7633411" y="15087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633411" y="2011680"/>
            <a:ext cx="15233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Extract columns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633411" y="2514600"/>
            <a:ext cx="152339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Flight no., date, booster, site, payload, orbit, outcome</a:t>
            </a:r>
            <a:endParaRPr lang="en-US" sz="1400" dirty="0"/>
          </a:p>
        </p:txBody>
      </p:sp>
      <p:sp>
        <p:nvSpPr>
          <p:cNvPr id="22" name="Arrow-65"/>
          <p:cNvSpPr/>
          <p:nvPr/>
        </p:nvSpPr>
        <p:spPr>
          <a:xfrm>
            <a:off x="9385402" y="2583180"/>
            <a:ext cx="32004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3" name="Card-66"/>
          <p:cNvSpPr/>
          <p:nvPr/>
        </p:nvSpPr>
        <p:spPr>
          <a:xfrm>
            <a:off x="9751162" y="1325880"/>
            <a:ext cx="1889150" cy="2514600"/>
          </a:xfrm>
          <a:prstGeom prst="roundRect">
            <a:avLst>
              <a:gd name="adj" fmla="val 580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tep-67"/>
          <p:cNvSpPr txBox="1"/>
          <p:nvPr/>
        </p:nvSpPr>
        <p:spPr>
          <a:xfrm>
            <a:off x="9934042" y="15087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934042" y="2011680"/>
            <a:ext cx="15233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Build DataFrame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934042" y="2514600"/>
            <a:ext cx="152339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Combine all rows and save to CSV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KEY PHRASES</a:t>
            </a:r>
            <a:endParaRPr lang="en-US" sz="1300" dirty="0"/>
          </a:p>
        </p:txBody>
      </p:sp>
      <p:sp>
        <p:nvSpPr>
          <p:cNvPr id="28" name="Chip-68"/>
          <p:cNvSpPr txBox="1"/>
          <p:nvPr/>
        </p:nvSpPr>
        <p:spPr>
          <a:xfrm>
            <a:off x="548640" y="4480560"/>
            <a:ext cx="1709928" cy="384048"/>
          </a:xfrm>
          <a:prstGeom prst="roundRect">
            <a:avLst>
              <a:gd name="adj" fmla="val 23810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requests.get()</a:t>
            </a:r>
            <a:endParaRPr lang="en-US" sz="1400" dirty="0"/>
          </a:p>
        </p:txBody>
      </p:sp>
      <p:sp>
        <p:nvSpPr>
          <p:cNvPr id="29" name="Chip-69"/>
          <p:cNvSpPr txBox="1"/>
          <p:nvPr/>
        </p:nvSpPr>
        <p:spPr>
          <a:xfrm>
            <a:off x="2441448" y="4480560"/>
            <a:ext cx="1613916" cy="384048"/>
          </a:xfrm>
          <a:prstGeom prst="roundRect">
            <a:avLst>
              <a:gd name="adj" fmla="val 23810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BeautifulSoup</a:t>
            </a:r>
            <a:endParaRPr lang="en-US" sz="1400" dirty="0"/>
          </a:p>
        </p:txBody>
      </p:sp>
      <p:sp>
        <p:nvSpPr>
          <p:cNvPr id="30" name="Chip-70"/>
          <p:cNvSpPr txBox="1"/>
          <p:nvPr/>
        </p:nvSpPr>
        <p:spPr>
          <a:xfrm>
            <a:off x="4238244" y="4480560"/>
            <a:ext cx="1997964" cy="384048"/>
          </a:xfrm>
          <a:prstGeom prst="roundRect">
            <a:avLst>
              <a:gd name="adj" fmla="val 23810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find_all("table")</a:t>
            </a:r>
            <a:endParaRPr lang="en-US" sz="1400" dirty="0"/>
          </a:p>
        </p:txBody>
      </p:sp>
      <p:sp>
        <p:nvSpPr>
          <p:cNvPr id="31" name="Chip-71"/>
          <p:cNvSpPr txBox="1"/>
          <p:nvPr/>
        </p:nvSpPr>
        <p:spPr>
          <a:xfrm>
            <a:off x="6419088" y="4480560"/>
            <a:ext cx="1517904" cy="384048"/>
          </a:xfrm>
          <a:prstGeom prst="roundRect">
            <a:avLst>
              <a:gd name="adj" fmla="val 23810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pd.DataFrame</a:t>
            </a:r>
            <a:endParaRPr lang="en-US" sz="1400" dirty="0"/>
          </a:p>
        </p:txBody>
      </p:sp>
      <p:sp>
        <p:nvSpPr>
          <p:cNvPr id="32" name="Card-72"/>
          <p:cNvSpPr/>
          <p:nvPr/>
        </p:nvSpPr>
        <p:spPr>
          <a:xfrm>
            <a:off x="548640" y="5486400"/>
            <a:ext cx="11091672" cy="502920"/>
          </a:xfrm>
          <a:prstGeom prst="roundRect">
            <a:avLst>
              <a:gd name="adj" fmla="val 2181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33" name="Image 0" descr="GitHu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5600700"/>
            <a:ext cx="274320" cy="274320"/>
          </a:xfrm>
          <a:prstGeom prst="rect">
            <a:avLst/>
          </a:prstGeom>
        </p:spPr>
      </p:pic>
      <p:sp>
        <p:nvSpPr>
          <p:cNvPr id="34" name="Text 31"/>
          <p:cNvSpPr txBox="1"/>
          <p:nvPr/>
        </p:nvSpPr>
        <p:spPr>
          <a:xfrm>
            <a:off x="1143000" y="548640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GitHub  </a:t>
            </a:r>
            <a:pPr indent="0" marL="0">
              <a:buNone/>
            </a:pPr>
            <a:r>
              <a:rPr lang="en-US" sz="1200" u="sng" dirty="0">
                <a:solidFill>
                  <a:schemeClr val="accent2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https://github.com/itsdimash/IBM-Data-Science-Capstone-SpaceX/blob/main/jupyter-labs-webscraping.ipynb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Data Wrangling</a:t>
            </a:r>
            <a:endParaRPr lang="en-US" sz="3200" dirty="0"/>
          </a:p>
        </p:txBody>
      </p:sp>
      <p:sp>
        <p:nvSpPr>
          <p:cNvPr id="3" name="Card-73"/>
          <p:cNvSpPr/>
          <p:nvPr/>
        </p:nvSpPr>
        <p:spPr>
          <a:xfrm>
            <a:off x="548640" y="1325880"/>
            <a:ext cx="2464308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tep-74"/>
          <p:cNvSpPr txBox="1"/>
          <p:nvPr/>
        </p:nvSpPr>
        <p:spPr>
          <a:xfrm>
            <a:off x="731520" y="15087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11680"/>
            <a:ext cx="20985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Load data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14600"/>
            <a:ext cx="20985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Read the collected launch table</a:t>
            </a:r>
            <a:endParaRPr lang="en-US" sz="1400" dirty="0"/>
          </a:p>
        </p:txBody>
      </p:sp>
      <p:sp>
        <p:nvSpPr>
          <p:cNvPr id="7" name="Arrow-75"/>
          <p:cNvSpPr/>
          <p:nvPr/>
        </p:nvSpPr>
        <p:spPr>
          <a:xfrm>
            <a:off x="3058668" y="2446020"/>
            <a:ext cx="32004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8" name="Card-76"/>
          <p:cNvSpPr/>
          <p:nvPr/>
        </p:nvSpPr>
        <p:spPr>
          <a:xfrm>
            <a:off x="3424428" y="1325880"/>
            <a:ext cx="2464308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tep-77"/>
          <p:cNvSpPr txBox="1"/>
          <p:nvPr/>
        </p:nvSpPr>
        <p:spPr>
          <a:xfrm>
            <a:off x="3607308" y="15087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607308" y="2011680"/>
            <a:ext cx="20985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Missing values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607308" y="2514600"/>
            <a:ext cx="20985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PayloadMass filled with the mean; LandingPad nulls kept</a:t>
            </a:r>
            <a:endParaRPr lang="en-US" sz="1400" dirty="0"/>
          </a:p>
        </p:txBody>
      </p:sp>
      <p:sp>
        <p:nvSpPr>
          <p:cNvPr id="12" name="Arrow-78"/>
          <p:cNvSpPr/>
          <p:nvPr/>
        </p:nvSpPr>
        <p:spPr>
          <a:xfrm>
            <a:off x="5934456" y="2446020"/>
            <a:ext cx="32004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3" name="Card-79"/>
          <p:cNvSpPr/>
          <p:nvPr/>
        </p:nvSpPr>
        <p:spPr>
          <a:xfrm>
            <a:off x="6300216" y="1325880"/>
            <a:ext cx="2464308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tep-80"/>
          <p:cNvSpPr txBox="1"/>
          <p:nvPr/>
        </p:nvSpPr>
        <p:spPr>
          <a:xfrm>
            <a:off x="6483096" y="15087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83096" y="2011680"/>
            <a:ext cx="20985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Count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83096" y="2514600"/>
            <a:ext cx="20985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Launches per site, per orbit, and mission outcomes</a:t>
            </a:r>
            <a:endParaRPr lang="en-US" sz="1400" dirty="0"/>
          </a:p>
        </p:txBody>
      </p:sp>
      <p:sp>
        <p:nvSpPr>
          <p:cNvPr id="17" name="Arrow-81"/>
          <p:cNvSpPr/>
          <p:nvPr/>
        </p:nvSpPr>
        <p:spPr>
          <a:xfrm>
            <a:off x="8810244" y="2446020"/>
            <a:ext cx="32004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8" name="Card-82"/>
          <p:cNvSpPr/>
          <p:nvPr/>
        </p:nvSpPr>
        <p:spPr>
          <a:xfrm>
            <a:off x="9176004" y="1325880"/>
            <a:ext cx="2464308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tep-83"/>
          <p:cNvSpPr txBox="1"/>
          <p:nvPr/>
        </p:nvSpPr>
        <p:spPr>
          <a:xfrm>
            <a:off x="9358884" y="15087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358884" y="2011680"/>
            <a:ext cx="20985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Create Class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358884" y="2514600"/>
            <a:ext cx="20985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Turn the landing outcome into a 0 / 1 label</a:t>
            </a:r>
            <a:endParaRPr lang="en-US" sz="1400" dirty="0"/>
          </a:p>
        </p:txBody>
      </p:sp>
      <p:sp>
        <p:nvSpPr>
          <p:cNvPr id="22" name="Card-84"/>
          <p:cNvSpPr/>
          <p:nvPr/>
        </p:nvSpPr>
        <p:spPr>
          <a:xfrm>
            <a:off x="548640" y="3794760"/>
            <a:ext cx="7223760" cy="178308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22960" y="39319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Landing outcome  →  Class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443484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Class 1</a:t>
            </a:r>
            <a:endParaRPr lang="en-US" sz="1400" dirty="0"/>
          </a:p>
        </p:txBody>
      </p:sp>
      <p:sp>
        <p:nvSpPr>
          <p:cNvPr id="25" name="Chip-85"/>
          <p:cNvSpPr txBox="1"/>
          <p:nvPr/>
        </p:nvSpPr>
        <p:spPr>
          <a:xfrm>
            <a:off x="1737360" y="4434840"/>
            <a:ext cx="1325880" cy="384048"/>
          </a:xfrm>
          <a:prstGeom prst="roundRect">
            <a:avLst>
              <a:gd name="adj" fmla="val 23810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True Ocean</a:t>
            </a:r>
            <a:endParaRPr lang="en-US" sz="1400" dirty="0"/>
          </a:p>
        </p:txBody>
      </p:sp>
      <p:sp>
        <p:nvSpPr>
          <p:cNvPr id="26" name="Chip-86"/>
          <p:cNvSpPr txBox="1"/>
          <p:nvPr/>
        </p:nvSpPr>
        <p:spPr>
          <a:xfrm>
            <a:off x="3246120" y="4434840"/>
            <a:ext cx="1229868" cy="384048"/>
          </a:xfrm>
          <a:prstGeom prst="roundRect">
            <a:avLst>
              <a:gd name="adj" fmla="val 23810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True RTLS</a:t>
            </a:r>
            <a:endParaRPr lang="en-US" sz="1400" dirty="0"/>
          </a:p>
        </p:txBody>
      </p:sp>
      <p:sp>
        <p:nvSpPr>
          <p:cNvPr id="27" name="Chip-87"/>
          <p:cNvSpPr txBox="1"/>
          <p:nvPr/>
        </p:nvSpPr>
        <p:spPr>
          <a:xfrm>
            <a:off x="4658868" y="4434840"/>
            <a:ext cx="1229868" cy="384048"/>
          </a:xfrm>
          <a:prstGeom prst="roundRect">
            <a:avLst>
              <a:gd name="adj" fmla="val 23810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True ASDS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498348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Class 0</a:t>
            </a:r>
            <a:endParaRPr lang="en-US" sz="1400" dirty="0"/>
          </a:p>
        </p:txBody>
      </p:sp>
      <p:sp>
        <p:nvSpPr>
          <p:cNvPr id="29" name="Chip-88"/>
          <p:cNvSpPr txBox="1"/>
          <p:nvPr/>
        </p:nvSpPr>
        <p:spPr>
          <a:xfrm>
            <a:off x="1737360" y="4983480"/>
            <a:ext cx="1421892" cy="384048"/>
          </a:xfrm>
          <a:prstGeom prst="roundRect">
            <a:avLst>
              <a:gd name="adj" fmla="val 23810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False Ocean</a:t>
            </a:r>
            <a:endParaRPr lang="en-US" sz="1400" dirty="0"/>
          </a:p>
        </p:txBody>
      </p:sp>
      <p:sp>
        <p:nvSpPr>
          <p:cNvPr id="30" name="Chip-89"/>
          <p:cNvSpPr txBox="1"/>
          <p:nvPr/>
        </p:nvSpPr>
        <p:spPr>
          <a:xfrm>
            <a:off x="3342132" y="4983480"/>
            <a:ext cx="1325880" cy="384048"/>
          </a:xfrm>
          <a:prstGeom prst="roundRect">
            <a:avLst>
              <a:gd name="adj" fmla="val 23810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False RTLS</a:t>
            </a:r>
            <a:endParaRPr lang="en-US" sz="1400" dirty="0"/>
          </a:p>
        </p:txBody>
      </p:sp>
      <p:sp>
        <p:nvSpPr>
          <p:cNvPr id="31" name="Chip-90"/>
          <p:cNvSpPr txBox="1"/>
          <p:nvPr/>
        </p:nvSpPr>
        <p:spPr>
          <a:xfrm>
            <a:off x="4850892" y="4983480"/>
            <a:ext cx="1325880" cy="384048"/>
          </a:xfrm>
          <a:prstGeom prst="roundRect">
            <a:avLst>
              <a:gd name="adj" fmla="val 23810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False ASDS</a:t>
            </a:r>
            <a:endParaRPr lang="en-US" sz="1400" dirty="0"/>
          </a:p>
        </p:txBody>
      </p:sp>
      <p:sp>
        <p:nvSpPr>
          <p:cNvPr id="32" name="Chip-91"/>
          <p:cNvSpPr txBox="1"/>
          <p:nvPr/>
        </p:nvSpPr>
        <p:spPr>
          <a:xfrm>
            <a:off x="6359652" y="4983480"/>
            <a:ext cx="1229868" cy="384048"/>
          </a:xfrm>
          <a:prstGeom prst="roundRect">
            <a:avLst>
              <a:gd name="adj" fmla="val 23810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None None</a:t>
            </a:r>
            <a:endParaRPr lang="en-US" sz="1400" dirty="0"/>
          </a:p>
        </p:txBody>
      </p:sp>
      <p:sp>
        <p:nvSpPr>
          <p:cNvPr id="33" name="Card-92"/>
          <p:cNvSpPr/>
          <p:nvPr/>
        </p:nvSpPr>
        <p:spPr>
          <a:xfrm>
            <a:off x="7955280" y="3794760"/>
            <a:ext cx="3685032" cy="178308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8229600" y="3931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Why a binary label?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8229600" y="438912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Classification needs one target: 1 means the first stage landed, 0 means it did not.</a:t>
            </a:r>
            <a:endParaRPr lang="en-US" sz="1500" dirty="0"/>
          </a:p>
        </p:txBody>
      </p:sp>
      <p:sp>
        <p:nvSpPr>
          <p:cNvPr id="36" name="Card-93"/>
          <p:cNvSpPr/>
          <p:nvPr/>
        </p:nvSpPr>
        <p:spPr>
          <a:xfrm>
            <a:off x="548640" y="5760720"/>
            <a:ext cx="11091672" cy="502920"/>
          </a:xfrm>
          <a:prstGeom prst="roundRect">
            <a:avLst>
              <a:gd name="adj" fmla="val 2181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37" name="Image 0" descr="GitHu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5875020"/>
            <a:ext cx="274320" cy="274320"/>
          </a:xfrm>
          <a:prstGeom prst="rect">
            <a:avLst/>
          </a:prstGeom>
        </p:spPr>
      </p:pic>
      <p:sp>
        <p:nvSpPr>
          <p:cNvPr id="38" name="Text 35"/>
          <p:cNvSpPr txBox="1"/>
          <p:nvPr/>
        </p:nvSpPr>
        <p:spPr>
          <a:xfrm>
            <a:off x="1143000" y="576072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GitHub  </a:t>
            </a:r>
            <a:pPr indent="0" marL="0">
              <a:buNone/>
            </a:pPr>
            <a:r>
              <a:rPr lang="en-US" sz="1200" u="sng" dirty="0">
                <a:solidFill>
                  <a:schemeClr val="accent2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https://github.com/itsdimash/IBM-Data-Science-Capstone-SpaceX/blob/main/labs-jupyter-spacex-Data-wrangling.ipynb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EDA with Data Visualization: Methodology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840480"/>
                <a:gridCol w="5879592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Scatter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Flight Number × Launch Site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experience at a site improve landing success?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Scatter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Payload Mass × Launch Site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some sites handle heavier payloads?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 rate × Orbit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orbits are easiest to land from?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Scatter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Flight Number × Orbit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the learning effect hold in each orbit?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Scatter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Payload Mass × Orbit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do payload and orbit interact?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 rate × Year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overall trend improving?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</a:tbl>
          </a:graphicData>
        </a:graphic>
      </p:graphicFrame>
      <p:sp>
        <p:nvSpPr>
          <p:cNvPr id="4" name="Card-94"/>
          <p:cNvSpPr/>
          <p:nvPr/>
        </p:nvSpPr>
        <p:spPr>
          <a:xfrm>
            <a:off x="548640" y="4663440"/>
            <a:ext cx="11091672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IconBg-95"/>
          <p:cNvSpPr/>
          <p:nvPr/>
        </p:nvSpPr>
        <p:spPr>
          <a:xfrm>
            <a:off x="777240" y="4800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cog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4954219"/>
            <a:ext cx="241402" cy="24140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54480" y="4663440"/>
            <a:ext cx="9811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Feature engineering: one-hot encode Orbit, LaunchSite, LandingPad and Serial so the models can use them.</a:t>
            </a:r>
            <a:endParaRPr lang="en-US" sz="1600" dirty="0"/>
          </a:p>
        </p:txBody>
      </p:sp>
      <p:sp>
        <p:nvSpPr>
          <p:cNvPr id="8" name="Card-96"/>
          <p:cNvSpPr/>
          <p:nvPr/>
        </p:nvSpPr>
        <p:spPr>
          <a:xfrm>
            <a:off x="548640" y="5669280"/>
            <a:ext cx="11091672" cy="502920"/>
          </a:xfrm>
          <a:prstGeom prst="roundRect">
            <a:avLst>
              <a:gd name="adj" fmla="val 2181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9" name="Image 1" descr="GitHu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578358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143000" y="566928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GitHub  </a:t>
            </a:r>
            <a:pPr indent="0" marL="0">
              <a:buNone/>
            </a:pPr>
            <a:r>
              <a:rPr lang="en-US" sz="1200" u="sng" dirty="0">
                <a:solidFill>
                  <a:schemeClr val="accent2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https://github.com/itsdimash/IBM-Data-Science-Capstone-SpaceX/blob/main/SpaceX_Capstone_Analysis.ipynb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EDA with SQL: Methodology</a:t>
            </a:r>
            <a:endParaRPr lang="en-US" sz="3200" dirty="0"/>
          </a:p>
        </p:txBody>
      </p:sp>
      <p:sp>
        <p:nvSpPr>
          <p:cNvPr id="3" name="Card-97"/>
          <p:cNvSpPr/>
          <p:nvPr/>
        </p:nvSpPr>
        <p:spPr>
          <a:xfrm>
            <a:off x="548640" y="1325880"/>
            <a:ext cx="5422392" cy="73152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tep-98"/>
          <p:cNvSpPr txBox="1"/>
          <p:nvPr/>
        </p:nvSpPr>
        <p:spPr>
          <a:xfrm>
            <a:off x="731520" y="149961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258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Display the unique launch site names</a:t>
            </a:r>
            <a:endParaRPr lang="en-US" sz="1500" dirty="0"/>
          </a:p>
        </p:txBody>
      </p:sp>
      <p:sp>
        <p:nvSpPr>
          <p:cNvPr id="6" name="Card-99"/>
          <p:cNvSpPr/>
          <p:nvPr/>
        </p:nvSpPr>
        <p:spPr>
          <a:xfrm>
            <a:off x="548640" y="2167128"/>
            <a:ext cx="5422392" cy="73152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tep-100"/>
          <p:cNvSpPr txBox="1"/>
          <p:nvPr/>
        </p:nvSpPr>
        <p:spPr>
          <a:xfrm>
            <a:off x="731520" y="234086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16712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Show 5 records for sites starting with "CCA"</a:t>
            </a:r>
            <a:endParaRPr lang="en-US" sz="1500" dirty="0"/>
          </a:p>
        </p:txBody>
      </p:sp>
      <p:sp>
        <p:nvSpPr>
          <p:cNvPr id="9" name="Card-101"/>
          <p:cNvSpPr/>
          <p:nvPr/>
        </p:nvSpPr>
        <p:spPr>
          <a:xfrm>
            <a:off x="548640" y="3008376"/>
            <a:ext cx="5422392" cy="73152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tep-102"/>
          <p:cNvSpPr txBox="1"/>
          <p:nvPr/>
        </p:nvSpPr>
        <p:spPr>
          <a:xfrm>
            <a:off x="731520" y="31821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008376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Total payload mass carried for NASA (CRS)</a:t>
            </a:r>
            <a:endParaRPr lang="en-US" sz="1500" dirty="0"/>
          </a:p>
        </p:txBody>
      </p:sp>
      <p:sp>
        <p:nvSpPr>
          <p:cNvPr id="12" name="Card-103"/>
          <p:cNvSpPr/>
          <p:nvPr/>
        </p:nvSpPr>
        <p:spPr>
          <a:xfrm>
            <a:off x="548640" y="3849624"/>
            <a:ext cx="5422392" cy="73152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tep-104"/>
          <p:cNvSpPr txBox="1"/>
          <p:nvPr/>
        </p:nvSpPr>
        <p:spPr>
          <a:xfrm>
            <a:off x="731520" y="40233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849624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Average payload mass of booster F9 v1.1</a:t>
            </a:r>
            <a:endParaRPr lang="en-US" sz="1500" dirty="0"/>
          </a:p>
        </p:txBody>
      </p:sp>
      <p:sp>
        <p:nvSpPr>
          <p:cNvPr id="15" name="Card-105"/>
          <p:cNvSpPr/>
          <p:nvPr/>
        </p:nvSpPr>
        <p:spPr>
          <a:xfrm>
            <a:off x="548640" y="4690872"/>
            <a:ext cx="5422392" cy="73152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tep-106"/>
          <p:cNvSpPr txBox="1"/>
          <p:nvPr/>
        </p:nvSpPr>
        <p:spPr>
          <a:xfrm>
            <a:off x="731520" y="486460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690872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Date of the first successful ground-pad landing</a:t>
            </a:r>
            <a:endParaRPr lang="en-US" sz="1500" dirty="0"/>
          </a:p>
        </p:txBody>
      </p:sp>
      <p:sp>
        <p:nvSpPr>
          <p:cNvPr id="18" name="Card-107"/>
          <p:cNvSpPr/>
          <p:nvPr/>
        </p:nvSpPr>
        <p:spPr>
          <a:xfrm>
            <a:off x="6217920" y="1325880"/>
            <a:ext cx="5422392" cy="73152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tep-108"/>
          <p:cNvSpPr txBox="1"/>
          <p:nvPr/>
        </p:nvSpPr>
        <p:spPr>
          <a:xfrm>
            <a:off x="6400800" y="149961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995160" y="13258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Drone-ship boosters with payload 4,000 to 6,000 kg</a:t>
            </a:r>
            <a:endParaRPr lang="en-US" sz="1500" dirty="0"/>
          </a:p>
        </p:txBody>
      </p:sp>
      <p:sp>
        <p:nvSpPr>
          <p:cNvPr id="21" name="Card-109"/>
          <p:cNvSpPr/>
          <p:nvPr/>
        </p:nvSpPr>
        <p:spPr>
          <a:xfrm>
            <a:off x="6217920" y="2167128"/>
            <a:ext cx="5422392" cy="73152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tep-110"/>
          <p:cNvSpPr txBox="1"/>
          <p:nvPr/>
        </p:nvSpPr>
        <p:spPr>
          <a:xfrm>
            <a:off x="6400800" y="234086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7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995160" y="216712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Count successful vs failed mission outcomes</a:t>
            </a:r>
            <a:endParaRPr lang="en-US" sz="1500" dirty="0"/>
          </a:p>
        </p:txBody>
      </p:sp>
      <p:sp>
        <p:nvSpPr>
          <p:cNvPr id="24" name="Card-111"/>
          <p:cNvSpPr/>
          <p:nvPr/>
        </p:nvSpPr>
        <p:spPr>
          <a:xfrm>
            <a:off x="6217920" y="3008376"/>
            <a:ext cx="5422392" cy="73152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tep-112"/>
          <p:cNvSpPr txBox="1"/>
          <p:nvPr/>
        </p:nvSpPr>
        <p:spPr>
          <a:xfrm>
            <a:off x="6400800" y="31821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8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995160" y="3008376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Boosters that carried the maximum payload</a:t>
            </a:r>
            <a:endParaRPr lang="en-US" sz="1500" dirty="0"/>
          </a:p>
        </p:txBody>
      </p:sp>
      <p:sp>
        <p:nvSpPr>
          <p:cNvPr id="27" name="Card-113"/>
          <p:cNvSpPr/>
          <p:nvPr/>
        </p:nvSpPr>
        <p:spPr>
          <a:xfrm>
            <a:off x="6217920" y="3849624"/>
            <a:ext cx="5422392" cy="73152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Step-114"/>
          <p:cNvSpPr txBox="1"/>
          <p:nvPr/>
        </p:nvSpPr>
        <p:spPr>
          <a:xfrm>
            <a:off x="6400800" y="40233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9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995160" y="3849624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2015 drone-ship failures: month, booster, site</a:t>
            </a:r>
            <a:endParaRPr lang="en-US" sz="1500" dirty="0"/>
          </a:p>
        </p:txBody>
      </p:sp>
      <p:sp>
        <p:nvSpPr>
          <p:cNvPr id="30" name="Card-115"/>
          <p:cNvSpPr/>
          <p:nvPr/>
        </p:nvSpPr>
        <p:spPr>
          <a:xfrm>
            <a:off x="6217920" y="4690872"/>
            <a:ext cx="5422392" cy="73152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Step-116"/>
          <p:cNvSpPr txBox="1"/>
          <p:nvPr/>
        </p:nvSpPr>
        <p:spPr>
          <a:xfrm>
            <a:off x="6400800" y="486460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10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995160" y="4690872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Rank landing outcomes, 2010-06-04 to 2017-03-20</a:t>
            </a:r>
            <a:endParaRPr lang="en-US" sz="1500" dirty="0"/>
          </a:p>
        </p:txBody>
      </p:sp>
      <p:sp>
        <p:nvSpPr>
          <p:cNvPr id="33" name="Card-117"/>
          <p:cNvSpPr/>
          <p:nvPr/>
        </p:nvSpPr>
        <p:spPr>
          <a:xfrm>
            <a:off x="548640" y="5669280"/>
            <a:ext cx="11091672" cy="502920"/>
          </a:xfrm>
          <a:prstGeom prst="roundRect">
            <a:avLst>
              <a:gd name="adj" fmla="val 2181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34" name="Image 0" descr="GitHu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5783580"/>
            <a:ext cx="274320" cy="274320"/>
          </a:xfrm>
          <a:prstGeom prst="rect">
            <a:avLst/>
          </a:prstGeom>
        </p:spPr>
      </p:pic>
      <p:sp>
        <p:nvSpPr>
          <p:cNvPr id="35" name="Text 32"/>
          <p:cNvSpPr txBox="1"/>
          <p:nvPr/>
        </p:nvSpPr>
        <p:spPr>
          <a:xfrm>
            <a:off x="1143000" y="566928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GitHub  </a:t>
            </a:r>
            <a:pPr indent="0" marL="0">
              <a:buNone/>
            </a:pPr>
            <a:r>
              <a:rPr lang="en-US" sz="1200" u="sng" dirty="0">
                <a:solidFill>
                  <a:schemeClr val="accent2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https://github.com/itsdimash/IBM-Data-Science-Capstone-SpaceX/blob/main/SpaceX_Capstone_Analysis.ipynb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Interactive Visual Analytics: Methodology</a:t>
            </a:r>
            <a:endParaRPr lang="en-US" sz="3200" dirty="0"/>
          </a:p>
        </p:txBody>
      </p:sp>
      <p:sp>
        <p:nvSpPr>
          <p:cNvPr id="3" name="Card-118"/>
          <p:cNvSpPr/>
          <p:nvPr/>
        </p:nvSpPr>
        <p:spPr>
          <a:xfrm>
            <a:off x="548640" y="1325880"/>
            <a:ext cx="5422392" cy="3429000"/>
          </a:xfrm>
          <a:prstGeom prst="roundRect">
            <a:avLst>
              <a:gd name="adj" fmla="val 3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IconBg-119"/>
          <p:cNvSpPr/>
          <p:nvPr/>
        </p:nvSpPr>
        <p:spPr>
          <a:xfrm>
            <a:off x="777240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map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1708099"/>
            <a:ext cx="241402" cy="2414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5544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Folium map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31720"/>
            <a:ext cx="48463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marker and circle for every launch site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MarkerCluster: green = success, red = failure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MousePosition to read coordinates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PolyLine and distance label to coast, railway, highway and city</a:t>
            </a:r>
            <a:endParaRPr lang="en-US" sz="1500" dirty="0"/>
          </a:p>
        </p:txBody>
      </p:sp>
      <p:sp>
        <p:nvSpPr>
          <p:cNvPr id="8" name="Card-120"/>
          <p:cNvSpPr/>
          <p:nvPr/>
        </p:nvSpPr>
        <p:spPr>
          <a:xfrm>
            <a:off x="548640" y="4983480"/>
            <a:ext cx="5422392" cy="73152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9" name="Image 1" descr="GitHu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521208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4983480"/>
            <a:ext cx="4690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GitHub  </a:t>
            </a:r>
            <a:pPr indent="0" marL="0">
              <a:buNone/>
            </a:pPr>
            <a:r>
              <a:rPr lang="en-US" sz="1200" u="sng" dirty="0">
                <a:solidFill>
                  <a:schemeClr val="accent2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https://github.com/itsdimash/IBM-Data-Science-Capstone-SpaceX/blob/main/lab_jupyter_launch_site_location_completed.ipynb</a:t>
            </a:r>
            <a:endParaRPr lang="en-US" sz="1200" dirty="0"/>
          </a:p>
        </p:txBody>
      </p:sp>
      <p:sp>
        <p:nvSpPr>
          <p:cNvPr id="11" name="Card-121"/>
          <p:cNvSpPr/>
          <p:nvPr/>
        </p:nvSpPr>
        <p:spPr>
          <a:xfrm>
            <a:off x="6217920" y="1325880"/>
            <a:ext cx="5422392" cy="3429000"/>
          </a:xfrm>
          <a:prstGeom prst="roundRect">
            <a:avLst>
              <a:gd name="adj" fmla="val 3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IconBg-122"/>
          <p:cNvSpPr/>
          <p:nvPr/>
        </p:nvSpPr>
        <p:spPr>
          <a:xfrm>
            <a:off x="6446520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2" descr="dash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0139" y="1708099"/>
            <a:ext cx="241402" cy="24140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78040" y="15544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Plotly Dash app</a:t>
            </a:r>
            <a:endParaRPr lang="en-US" sz="2200" dirty="0"/>
          </a:p>
        </p:txBody>
      </p:sp>
      <p:sp>
        <p:nvSpPr>
          <p:cNvPr id="15" name="Text 10"/>
          <p:cNvSpPr txBox="1"/>
          <p:nvPr/>
        </p:nvSpPr>
        <p:spPr>
          <a:xfrm>
            <a:off x="6492240" y="2331720"/>
            <a:ext cx="48463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Dropdown: all sites or one site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Pie chart: successful launches by site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Range slider for payload mass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Scatter: payload vs outcome by booster version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Callbacks link controls to both charts</a:t>
            </a:r>
            <a:endParaRPr lang="en-US" sz="1500" dirty="0"/>
          </a:p>
        </p:txBody>
      </p:sp>
      <p:sp>
        <p:nvSpPr>
          <p:cNvPr id="16" name="Card-123"/>
          <p:cNvSpPr/>
          <p:nvPr/>
        </p:nvSpPr>
        <p:spPr>
          <a:xfrm>
            <a:off x="6217920" y="4983480"/>
            <a:ext cx="5422392" cy="73152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17" name="Image 3" descr="GitHub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521208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812280" y="4983480"/>
            <a:ext cx="4690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GitHub  </a:t>
            </a:r>
            <a:pPr indent="0" marL="0">
              <a:buNone/>
            </a:pPr>
            <a:r>
              <a:rPr lang="en-US" sz="1200" u="sng" dirty="0">
                <a:solidFill>
                  <a:schemeClr val="accent2"/>
                </a:solidFill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https://github.com/itsdimash/IBM-Data-Science-Capstone-SpaceX/blob/main/spacex_dash_app.py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Predictive Analysis: Methodology</a:t>
            </a:r>
            <a:endParaRPr lang="en-US" sz="3200" dirty="0"/>
          </a:p>
        </p:txBody>
      </p:sp>
      <p:sp>
        <p:nvSpPr>
          <p:cNvPr id="3" name="Card-124"/>
          <p:cNvSpPr/>
          <p:nvPr/>
        </p:nvSpPr>
        <p:spPr>
          <a:xfrm>
            <a:off x="548640" y="1325880"/>
            <a:ext cx="1889150" cy="2286000"/>
          </a:xfrm>
          <a:prstGeom prst="roundRect">
            <a:avLst>
              <a:gd name="adj" fmla="val 580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tep-125"/>
          <p:cNvSpPr txBox="1"/>
          <p:nvPr/>
        </p:nvSpPr>
        <p:spPr>
          <a:xfrm>
            <a:off x="731520" y="15087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11680"/>
            <a:ext cx="15233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Standardize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14600"/>
            <a:ext cx="152339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StandardScaler on the features X; target is Class</a:t>
            </a:r>
            <a:endParaRPr lang="en-US" sz="1400" dirty="0"/>
          </a:p>
        </p:txBody>
      </p:sp>
      <p:sp>
        <p:nvSpPr>
          <p:cNvPr id="7" name="Arrow-126"/>
          <p:cNvSpPr/>
          <p:nvPr/>
        </p:nvSpPr>
        <p:spPr>
          <a:xfrm>
            <a:off x="2483510" y="2468880"/>
            <a:ext cx="32004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8" name="Card-127"/>
          <p:cNvSpPr/>
          <p:nvPr/>
        </p:nvSpPr>
        <p:spPr>
          <a:xfrm>
            <a:off x="2849270" y="1325880"/>
            <a:ext cx="1889150" cy="2286000"/>
          </a:xfrm>
          <a:prstGeom prst="roundRect">
            <a:avLst>
              <a:gd name="adj" fmla="val 580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tep-128"/>
          <p:cNvSpPr txBox="1"/>
          <p:nvPr/>
        </p:nvSpPr>
        <p:spPr>
          <a:xfrm>
            <a:off x="3032150" y="15087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032150" y="2011680"/>
            <a:ext cx="15233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Split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032150" y="2514600"/>
            <a:ext cx="152339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train_test_split: 80% train, 20% test</a:t>
            </a:r>
            <a:endParaRPr lang="en-US" sz="1400" dirty="0"/>
          </a:p>
        </p:txBody>
      </p:sp>
      <p:sp>
        <p:nvSpPr>
          <p:cNvPr id="12" name="Arrow-129"/>
          <p:cNvSpPr/>
          <p:nvPr/>
        </p:nvSpPr>
        <p:spPr>
          <a:xfrm>
            <a:off x="4784141" y="2468880"/>
            <a:ext cx="32004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3" name="Card-130"/>
          <p:cNvSpPr/>
          <p:nvPr/>
        </p:nvSpPr>
        <p:spPr>
          <a:xfrm>
            <a:off x="5149901" y="1325880"/>
            <a:ext cx="1889150" cy="2286000"/>
          </a:xfrm>
          <a:prstGeom prst="roundRect">
            <a:avLst>
              <a:gd name="adj" fmla="val 580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tep-131"/>
          <p:cNvSpPr txBox="1"/>
          <p:nvPr/>
        </p:nvSpPr>
        <p:spPr>
          <a:xfrm>
            <a:off x="5332781" y="15087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332781" y="2011680"/>
            <a:ext cx="15233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Tune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332781" y="2514600"/>
            <a:ext cx="152339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GridSearchCV with 10-fold cross-validation</a:t>
            </a:r>
            <a:endParaRPr lang="en-US" sz="1400" dirty="0"/>
          </a:p>
        </p:txBody>
      </p:sp>
      <p:sp>
        <p:nvSpPr>
          <p:cNvPr id="17" name="Arrow-132"/>
          <p:cNvSpPr/>
          <p:nvPr/>
        </p:nvSpPr>
        <p:spPr>
          <a:xfrm>
            <a:off x="7084771" y="2468880"/>
            <a:ext cx="32004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8" name="Card-133"/>
          <p:cNvSpPr/>
          <p:nvPr/>
        </p:nvSpPr>
        <p:spPr>
          <a:xfrm>
            <a:off x="7450531" y="1325880"/>
            <a:ext cx="1889150" cy="2286000"/>
          </a:xfrm>
          <a:prstGeom prst="roundRect">
            <a:avLst>
              <a:gd name="adj" fmla="val 580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tep-134"/>
          <p:cNvSpPr txBox="1"/>
          <p:nvPr/>
        </p:nvSpPr>
        <p:spPr>
          <a:xfrm>
            <a:off x="7633411" y="15087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633411" y="2011680"/>
            <a:ext cx="15233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Evaluate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633411" y="2514600"/>
            <a:ext cx="152339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Test accuracy and confusion matrix</a:t>
            </a:r>
            <a:endParaRPr lang="en-US" sz="1400" dirty="0"/>
          </a:p>
        </p:txBody>
      </p:sp>
      <p:sp>
        <p:nvSpPr>
          <p:cNvPr id="22" name="Arrow-135"/>
          <p:cNvSpPr/>
          <p:nvPr/>
        </p:nvSpPr>
        <p:spPr>
          <a:xfrm>
            <a:off x="9385402" y="2468880"/>
            <a:ext cx="32004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3" name="Card-136"/>
          <p:cNvSpPr/>
          <p:nvPr/>
        </p:nvSpPr>
        <p:spPr>
          <a:xfrm>
            <a:off x="9751162" y="1325880"/>
            <a:ext cx="1889150" cy="2286000"/>
          </a:xfrm>
          <a:prstGeom prst="roundRect">
            <a:avLst>
              <a:gd name="adj" fmla="val 580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tep-137"/>
          <p:cNvSpPr txBox="1"/>
          <p:nvPr/>
        </p:nvSpPr>
        <p:spPr>
          <a:xfrm>
            <a:off x="9934042" y="15087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934042" y="2011680"/>
            <a:ext cx="15233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Select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934042" y="2514600"/>
            <a:ext cx="152339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Highest accuracy is the best model</a:t>
            </a:r>
            <a:endParaRPr lang="en-US" sz="1400" dirty="0"/>
          </a:p>
        </p:txBody>
      </p:sp>
      <p:sp>
        <p:nvSpPr>
          <p:cNvPr id="27" name="Card-138"/>
          <p:cNvSpPr/>
          <p:nvPr/>
        </p:nvSpPr>
        <p:spPr>
          <a:xfrm>
            <a:off x="548640" y="3840480"/>
            <a:ext cx="2567178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731520" y="3977640"/>
            <a:ext cx="2201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Logistic Regression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" y="4434840"/>
            <a:ext cx="22014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TUNED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31520" y="4709160"/>
            <a:ext cx="22014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C, penalty, solver</a:t>
            </a:r>
            <a:endParaRPr lang="en-US" sz="1400" dirty="0"/>
          </a:p>
        </p:txBody>
      </p:sp>
      <p:sp>
        <p:nvSpPr>
          <p:cNvPr id="31" name="Card-139"/>
          <p:cNvSpPr/>
          <p:nvPr/>
        </p:nvSpPr>
        <p:spPr>
          <a:xfrm>
            <a:off x="3390138" y="3840480"/>
            <a:ext cx="2567178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3573018" y="3977640"/>
            <a:ext cx="2201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SVM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3573018" y="4434840"/>
            <a:ext cx="22014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TUNED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3573018" y="4709160"/>
            <a:ext cx="22014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kernel, C, gamma</a:t>
            </a:r>
            <a:endParaRPr lang="en-US" sz="1400" dirty="0"/>
          </a:p>
        </p:txBody>
      </p:sp>
      <p:sp>
        <p:nvSpPr>
          <p:cNvPr id="35" name="Card-140"/>
          <p:cNvSpPr/>
          <p:nvPr/>
        </p:nvSpPr>
        <p:spPr>
          <a:xfrm>
            <a:off x="6231636" y="3840480"/>
            <a:ext cx="2567178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6414516" y="3977640"/>
            <a:ext cx="2201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Decision Tree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6414516" y="4434840"/>
            <a:ext cx="22014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TUNED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6414516" y="4709160"/>
            <a:ext cx="22014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criterion, max_depth, splitter</a:t>
            </a:r>
            <a:endParaRPr lang="en-US" sz="1400" dirty="0"/>
          </a:p>
        </p:txBody>
      </p:sp>
      <p:sp>
        <p:nvSpPr>
          <p:cNvPr id="39" name="Card-141"/>
          <p:cNvSpPr/>
          <p:nvPr/>
        </p:nvSpPr>
        <p:spPr>
          <a:xfrm>
            <a:off x="9073134" y="3840480"/>
            <a:ext cx="2567178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9256014" y="3977640"/>
            <a:ext cx="2201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KNN</a:t>
            </a:r>
            <a:endParaRPr lang="en-US" sz="1800" dirty="0"/>
          </a:p>
        </p:txBody>
      </p:sp>
      <p:sp>
        <p:nvSpPr>
          <p:cNvPr id="41" name="Text 39"/>
          <p:cNvSpPr txBox="1"/>
          <p:nvPr/>
        </p:nvSpPr>
        <p:spPr>
          <a:xfrm>
            <a:off x="9256014" y="4434840"/>
            <a:ext cx="22014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TUNED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9256014" y="4709160"/>
            <a:ext cx="22014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n_neighbors, p, algorithm</a:t>
            </a:r>
            <a:endParaRPr lang="en-US" sz="1400" dirty="0"/>
          </a:p>
        </p:txBody>
      </p:sp>
      <p:sp>
        <p:nvSpPr>
          <p:cNvPr id="43" name="Card-142"/>
          <p:cNvSpPr/>
          <p:nvPr/>
        </p:nvSpPr>
        <p:spPr>
          <a:xfrm>
            <a:off x="548640" y="5669280"/>
            <a:ext cx="11091672" cy="502920"/>
          </a:xfrm>
          <a:prstGeom prst="roundRect">
            <a:avLst>
              <a:gd name="adj" fmla="val 2181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44" name="Image 0" descr="GitHu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5783580"/>
            <a:ext cx="274320" cy="274320"/>
          </a:xfrm>
          <a:prstGeom prst="rect">
            <a:avLst/>
          </a:prstGeom>
        </p:spPr>
      </p:pic>
      <p:sp>
        <p:nvSpPr>
          <p:cNvPr id="45" name="Text 42"/>
          <p:cNvSpPr txBox="1"/>
          <p:nvPr/>
        </p:nvSpPr>
        <p:spPr>
          <a:xfrm>
            <a:off x="1143000" y="566928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GitHub  </a:t>
            </a:r>
            <a:pPr indent="0" marL="0">
              <a:buNone/>
            </a:pPr>
            <a:r>
              <a:rPr lang="en-US" sz="1200" u="sng" dirty="0">
                <a:solidFill>
                  <a:schemeClr val="accent2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https://github.com/itsdimash/IBM-Data-Science-Capstone-SpaceX/blob/main/SpaceX_Capstone_Analysis.ipynb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rbit-143"/>
          <p:cNvSpPr/>
          <p:nvPr/>
        </p:nvSpPr>
        <p:spPr>
          <a:xfrm>
            <a:off x="6126480" y="137160"/>
            <a:ext cx="6583680" cy="6583680"/>
          </a:xfrm>
          <a:prstGeom prst="ellips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3" name="Orbit-144"/>
          <p:cNvSpPr/>
          <p:nvPr/>
        </p:nvSpPr>
        <p:spPr>
          <a:xfrm>
            <a:off x="7132320" y="1143000"/>
            <a:ext cx="4572000" cy="4572000"/>
          </a:xfrm>
          <a:prstGeom prst="ellips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4" name="Orbit-145"/>
          <p:cNvSpPr/>
          <p:nvPr/>
        </p:nvSpPr>
        <p:spPr>
          <a:xfrm>
            <a:off x="8092440" y="2103120"/>
            <a:ext cx="2651760" cy="2651760"/>
          </a:xfrm>
          <a:prstGeom prst="ellips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5" name="Satellite-146"/>
          <p:cNvSpPr/>
          <p:nvPr/>
        </p:nvSpPr>
        <p:spPr>
          <a:xfrm>
            <a:off x="11750040" y="960120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Satellite-147"/>
          <p:cNvSpPr/>
          <p:nvPr/>
        </p:nvSpPr>
        <p:spPr>
          <a:xfrm>
            <a:off x="7818120" y="4343400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731520" y="26517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Results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79476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EDA · SQL · Folium · Plotly Dash · Classification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EDA: Flight Number vs. Launch Site</a:t>
            </a:r>
            <a:endParaRPr lang="en-US" sz="3200" dirty="0"/>
          </a:p>
        </p:txBody>
      </p:sp>
      <p:sp>
        <p:nvSpPr>
          <p:cNvPr id="3" name="Card-148"/>
          <p:cNvSpPr/>
          <p:nvPr/>
        </p:nvSpPr>
        <p:spPr>
          <a:xfrm>
            <a:off x="548640" y="1325880"/>
            <a:ext cx="7040880" cy="4846320"/>
          </a:xfrm>
          <a:prstGeom prst="roundRect">
            <a:avLst>
              <a:gd name="adj" fmla="val 22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Flight Number vs. Launch Si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49908"/>
            <a:ext cx="6766560" cy="4398264"/>
          </a:xfrm>
          <a:prstGeom prst="rect">
            <a:avLst/>
          </a:prstGeom>
        </p:spPr>
      </p:pic>
      <p:sp>
        <p:nvSpPr>
          <p:cNvPr id="5" name="Card-149"/>
          <p:cNvSpPr/>
          <p:nvPr/>
        </p:nvSpPr>
        <p:spPr>
          <a:xfrm>
            <a:off x="7863840" y="1325880"/>
            <a:ext cx="3776472" cy="4846320"/>
          </a:xfrm>
          <a:prstGeom prst="roundRect">
            <a:avLst>
              <a:gd name="adj" fmla="val 290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092440" y="150876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WHAT IT SHOWS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1828800"/>
            <a:ext cx="331927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Each dot is one launch, coloured by landing outcome and grouped by launch site.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092440" y="352044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INSIGHT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3840480"/>
            <a:ext cx="33192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Success rises in the second half of the launch history at every site (flights 1 to 45 vs 46 to 90): CCAFS SLC 40 from 46% to 72%, VAFB SLC 4E from 71% to 83%, KSC LC 39A from 75% to 80%.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EDA: Payload vs. Launch Site</a:t>
            </a:r>
            <a:endParaRPr lang="en-US" sz="3200" dirty="0"/>
          </a:p>
        </p:txBody>
      </p:sp>
      <p:sp>
        <p:nvSpPr>
          <p:cNvPr id="3" name="Card-150"/>
          <p:cNvSpPr/>
          <p:nvPr/>
        </p:nvSpPr>
        <p:spPr>
          <a:xfrm>
            <a:off x="548640" y="1325880"/>
            <a:ext cx="7040880" cy="4846320"/>
          </a:xfrm>
          <a:prstGeom prst="roundRect">
            <a:avLst>
              <a:gd name="adj" fmla="val 22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ayload Mass vs. Launch Si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49908"/>
            <a:ext cx="6766560" cy="4398264"/>
          </a:xfrm>
          <a:prstGeom prst="rect">
            <a:avLst/>
          </a:prstGeom>
        </p:spPr>
      </p:pic>
      <p:sp>
        <p:nvSpPr>
          <p:cNvPr id="5" name="Card-151"/>
          <p:cNvSpPr/>
          <p:nvPr/>
        </p:nvSpPr>
        <p:spPr>
          <a:xfrm>
            <a:off x="7863840" y="1325880"/>
            <a:ext cx="3776472" cy="4846320"/>
          </a:xfrm>
          <a:prstGeom prst="roundRect">
            <a:avLst>
              <a:gd name="adj" fmla="val 290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092440" y="150876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WHAT IT SHOWS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1828800"/>
            <a:ext cx="331927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Payload mass (kg) against launch site, coloured by outcome.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092440" y="352044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INSIGHT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3840480"/>
            <a:ext cx="33192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heaviest payloads (up to 15,600 kg) fly from CCAFS SLC 40 and KSC LC 39A. VAFB SLC 4E has no launch above 10,000 kg (maximum 9,600 kg).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EDA: Success Rate by Orbit</a:t>
            </a:r>
            <a:endParaRPr lang="en-US" sz="3200" dirty="0"/>
          </a:p>
        </p:txBody>
      </p:sp>
      <p:sp>
        <p:nvSpPr>
          <p:cNvPr id="3" name="Card-152"/>
          <p:cNvSpPr/>
          <p:nvPr/>
        </p:nvSpPr>
        <p:spPr>
          <a:xfrm>
            <a:off x="548640" y="1325880"/>
            <a:ext cx="7040880" cy="4846320"/>
          </a:xfrm>
          <a:prstGeom prst="roundRect">
            <a:avLst>
              <a:gd name="adj" fmla="val 22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Success Rate by Or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49908"/>
            <a:ext cx="6766560" cy="4398264"/>
          </a:xfrm>
          <a:prstGeom prst="rect">
            <a:avLst/>
          </a:prstGeom>
        </p:spPr>
      </p:pic>
      <p:sp>
        <p:nvSpPr>
          <p:cNvPr id="5" name="Card-153"/>
          <p:cNvSpPr/>
          <p:nvPr/>
        </p:nvSpPr>
        <p:spPr>
          <a:xfrm>
            <a:off x="7863840" y="1325880"/>
            <a:ext cx="3776472" cy="4846320"/>
          </a:xfrm>
          <a:prstGeom prst="roundRect">
            <a:avLst>
              <a:gd name="adj" fmla="val 290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092440" y="150876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WHAT IT SHOWS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1828800"/>
            <a:ext cx="331927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share of launches per orbit whose first stage landed, with the number of launches (n).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092440" y="352044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INSIGHT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3840480"/>
            <a:ext cx="33192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ES-L1, GEO, HEO and SSO reach 100%, but three of them have a single launch. Among well-sampled orbits VLEO leads (86%, n=14) and GTO is hardest (52%, n=27).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EDA: Flight Number and Payload vs. Orbit</a:t>
            </a:r>
            <a:endParaRPr lang="en-US" sz="3200" dirty="0"/>
          </a:p>
        </p:txBody>
      </p:sp>
      <p:sp>
        <p:nvSpPr>
          <p:cNvPr id="3" name="Card-154"/>
          <p:cNvSpPr/>
          <p:nvPr/>
        </p:nvSpPr>
        <p:spPr>
          <a:xfrm>
            <a:off x="548640" y="1325880"/>
            <a:ext cx="704088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Flight Number vs. Or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463040"/>
            <a:ext cx="6172200" cy="2057400"/>
          </a:xfrm>
          <a:prstGeom prst="rect">
            <a:avLst/>
          </a:prstGeom>
        </p:spPr>
      </p:pic>
      <p:sp>
        <p:nvSpPr>
          <p:cNvPr id="5" name="Card-155"/>
          <p:cNvSpPr/>
          <p:nvPr/>
        </p:nvSpPr>
        <p:spPr>
          <a:xfrm>
            <a:off x="548640" y="3840480"/>
            <a:ext cx="704088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1" descr="Payload Mass vs. Or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3977640"/>
            <a:ext cx="6172200" cy="2057400"/>
          </a:xfrm>
          <a:prstGeom prst="rect">
            <a:avLst/>
          </a:prstGeom>
        </p:spPr>
      </p:pic>
      <p:sp>
        <p:nvSpPr>
          <p:cNvPr id="7" name="Card-156"/>
          <p:cNvSpPr/>
          <p:nvPr/>
        </p:nvSpPr>
        <p:spPr>
          <a:xfrm>
            <a:off x="7863840" y="1325880"/>
            <a:ext cx="3776472" cy="4846320"/>
          </a:xfrm>
          <a:prstGeom prst="roundRect">
            <a:avLst>
              <a:gd name="adj" fmla="val 290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8092440" y="150876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WHAT IT SHOWS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8092440" y="1828800"/>
            <a:ext cx="331927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Two scatter plots comparing orbits by experience (flight number) and by payload mass.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092440" y="352044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INSIGHT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8092440" y="3840480"/>
            <a:ext cx="33192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 LEO, success grows with flight number (correlation 0.72); in GTO the link is weaker (0.43). The 15 launches above 10,000 kg (14 in VLEO, 1 in ISS) landed 87% of the time.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EDA: Yearly Launch Success Trend</a:t>
            </a:r>
            <a:endParaRPr lang="en-US" sz="3200" dirty="0"/>
          </a:p>
        </p:txBody>
      </p:sp>
      <p:sp>
        <p:nvSpPr>
          <p:cNvPr id="3" name="Card-157"/>
          <p:cNvSpPr/>
          <p:nvPr/>
        </p:nvSpPr>
        <p:spPr>
          <a:xfrm>
            <a:off x="548640" y="1325880"/>
            <a:ext cx="7040880" cy="4846320"/>
          </a:xfrm>
          <a:prstGeom prst="roundRect">
            <a:avLst>
              <a:gd name="adj" fmla="val 22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Launch Success Rate by Ye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49908"/>
            <a:ext cx="6766560" cy="4398264"/>
          </a:xfrm>
          <a:prstGeom prst="rect">
            <a:avLst/>
          </a:prstGeom>
        </p:spPr>
      </p:pic>
      <p:sp>
        <p:nvSpPr>
          <p:cNvPr id="5" name="Card-158"/>
          <p:cNvSpPr/>
          <p:nvPr/>
        </p:nvSpPr>
        <p:spPr>
          <a:xfrm>
            <a:off x="7863840" y="1325880"/>
            <a:ext cx="3776472" cy="4846320"/>
          </a:xfrm>
          <a:prstGeom prst="roundRect">
            <a:avLst>
              <a:gd name="adj" fmla="val 290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092440" y="150876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WHAT IT SHOWS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1828800"/>
            <a:ext cx="331927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share of launches that landed in each year.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092440" y="352044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INSIGHT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3840480"/>
            <a:ext cx="33192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Success climbs from 0% in 2013 to 84% in 2020, peaking at 90% in 2019, with a dip to 61% in 2018.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EDA with SQL: Launch Sites</a:t>
            </a:r>
            <a:endParaRPr lang="en-US" sz="3200" dirty="0"/>
          </a:p>
        </p:txBody>
      </p:sp>
      <p:sp>
        <p:nvSpPr>
          <p:cNvPr id="3" name="Card-159"/>
          <p:cNvSpPr/>
          <p:nvPr/>
        </p:nvSpPr>
        <p:spPr>
          <a:xfrm>
            <a:off x="548640" y="1325880"/>
            <a:ext cx="7040880" cy="212598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43560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Q1  Display the unique launch site names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37360"/>
            <a:ext cx="6675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SELECT DISTINCT Launch_Site FROM SPACEXTBL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975104"/>
          <a:ext cx="6675120" cy="914400"/>
        </p:xfrm>
        <a:graphic>
          <a:graphicData uri="http://schemas.openxmlformats.org/drawingml/2006/table">
            <a:tbl>
              <a:tblPr/>
              <a:tblGrid>
                <a:gridCol w="667512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Launch_Site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CCAFS LC-40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VAFB SLC-4E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KSC LC-39A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CCAFS SLC-40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</a:tbl>
          </a:graphicData>
        </a:graphic>
      </p:graphicFrame>
      <p:sp>
        <p:nvSpPr>
          <p:cNvPr id="7" name="Card-160"/>
          <p:cNvSpPr/>
          <p:nvPr/>
        </p:nvSpPr>
        <p:spPr>
          <a:xfrm>
            <a:off x="548640" y="3634740"/>
            <a:ext cx="7040880" cy="2537460"/>
          </a:xfrm>
          <a:prstGeom prst="roundRect">
            <a:avLst>
              <a:gd name="adj" fmla="val 432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31520" y="374446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Q2  5 records where launch sites begin with "CCA"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046220"/>
            <a:ext cx="6675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SELECT Date, Booster_Version, Launch_Site, PAYLOAD_MASS__KG_ FROM SPACEXTBL WHERE Launch_Site LIKE 'CCA%' LIMIT 5</a:t>
            </a:r>
            <a:endParaRPr lang="en-US" sz="1100" dirty="0"/>
          </a:p>
        </p:txBody>
      </p:sp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4457700"/>
          <a:ext cx="6675120" cy="914400"/>
        </p:xfrm>
        <a:graphic>
          <a:graphicData uri="http://schemas.openxmlformats.org/drawingml/2006/table">
            <a:tbl>
              <a:tblPr/>
              <a:tblGrid>
                <a:gridCol w="1668780"/>
                <a:gridCol w="1668780"/>
                <a:gridCol w="1668780"/>
                <a:gridCol w="166878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Booster_Version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Launch_Site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Payload (kg)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2010-06-04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F9 v1.0 B0003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CCAFS LC-40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2010-12-08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F9 v1.0 B0004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CCAFS LC-40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2012-05-22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F9 v1.0 B0005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CCAFS LC-40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2012-10-08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F9 v1.0 B0006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CCAFS LC-40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2013-03-01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F9 v1.0 B0007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CCAFS LC-40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Card-161"/>
          <p:cNvSpPr/>
          <p:nvPr/>
        </p:nvSpPr>
        <p:spPr>
          <a:xfrm>
            <a:off x="7863840" y="1325880"/>
            <a:ext cx="3776472" cy="4846320"/>
          </a:xfrm>
          <a:prstGeom prst="roundRect">
            <a:avLst>
              <a:gd name="adj" fmla="val 290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092440" y="150876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WHAT IT SHOWS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8092440" y="1828800"/>
            <a:ext cx="331927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distinct launch sites, and a preview of launches from sites starting with "CCA".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8092440" y="352044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INSIGHT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8092440" y="3840480"/>
            <a:ext cx="33192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Four distinct sites: CCAFS LC-40, VAFB SLC-4E, KSC LC-39A and CCAFS SLC-40. The first two launches (2010) carried 0 kg of payload.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EDA with SQL: Payload and First Landing</a:t>
            </a:r>
            <a:endParaRPr lang="en-US" sz="3200" dirty="0"/>
          </a:p>
        </p:txBody>
      </p:sp>
      <p:sp>
        <p:nvSpPr>
          <p:cNvPr id="3" name="Card-162"/>
          <p:cNvSpPr/>
          <p:nvPr/>
        </p:nvSpPr>
        <p:spPr>
          <a:xfrm>
            <a:off x="548640" y="1325880"/>
            <a:ext cx="7040880" cy="1493520"/>
          </a:xfrm>
          <a:prstGeom prst="roundRect">
            <a:avLst>
              <a:gd name="adj" fmla="val 734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4356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Q3  Total payload mass carried by boosters launched by NASA (CRS)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47672"/>
            <a:ext cx="4206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SELECT SUM(PAYLOAD_MASS__KG_) AS total_payload_kg FROM SPACEXTBL WHERE Customer = 'NASA (CRS)'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120640" y="1325880"/>
            <a:ext cx="2286000" cy="149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45,596 kg</a:t>
            </a:r>
            <a:endParaRPr lang="en-US" sz="2800" dirty="0"/>
          </a:p>
        </p:txBody>
      </p:sp>
      <p:sp>
        <p:nvSpPr>
          <p:cNvPr id="7" name="Card-163"/>
          <p:cNvSpPr/>
          <p:nvPr/>
        </p:nvSpPr>
        <p:spPr>
          <a:xfrm>
            <a:off x="548640" y="3002280"/>
            <a:ext cx="7040880" cy="1493520"/>
          </a:xfrm>
          <a:prstGeom prst="roundRect">
            <a:avLst>
              <a:gd name="adj" fmla="val 734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31120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Q4  Average payload mass carried by booster version F9 v1.1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624072"/>
            <a:ext cx="4206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SELECT AVG(PAYLOAD_MASS__KG_) AS avg_payload_kg FROM SPACEXTBL WHERE Booster_Version = 'F9 v1.1'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3002280"/>
            <a:ext cx="2286000" cy="149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2,928.4 kg</a:t>
            </a:r>
            <a:endParaRPr lang="en-US" sz="2800" dirty="0"/>
          </a:p>
        </p:txBody>
      </p:sp>
      <p:sp>
        <p:nvSpPr>
          <p:cNvPr id="11" name="Card-164"/>
          <p:cNvSpPr/>
          <p:nvPr/>
        </p:nvSpPr>
        <p:spPr>
          <a:xfrm>
            <a:off x="548640" y="4678680"/>
            <a:ext cx="7040880" cy="1493520"/>
          </a:xfrm>
          <a:prstGeom prst="roundRect">
            <a:avLst>
              <a:gd name="adj" fmla="val 734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31520" y="47884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Q5  Date of the first successful landing on a ground pad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300472"/>
            <a:ext cx="4206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SELECT MIN(Date) AS first_ground_pad_landing FROM SPACEXTBL WHERE Landing_Outcome = 'Success (ground pad)'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4678680"/>
            <a:ext cx="2286000" cy="149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2015-12-22</a:t>
            </a:r>
            <a:endParaRPr lang="en-US" sz="2800" dirty="0"/>
          </a:p>
        </p:txBody>
      </p:sp>
      <p:sp>
        <p:nvSpPr>
          <p:cNvPr id="15" name="Card-165"/>
          <p:cNvSpPr/>
          <p:nvPr/>
        </p:nvSpPr>
        <p:spPr>
          <a:xfrm>
            <a:off x="7863840" y="1325880"/>
            <a:ext cx="3776472" cy="4846320"/>
          </a:xfrm>
          <a:prstGeom prst="roundRect">
            <a:avLst>
              <a:gd name="adj" fmla="val 290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092440" y="150876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WHAT IT SHOWS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092440" y="1828800"/>
            <a:ext cx="331927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Total payload for NASA (CRS), the average payload of F9 v1.1, and the date of the first ground-pad landing.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352044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INSIGHT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092440" y="3840480"/>
            <a:ext cx="33192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NASA (CRS) missions carried 45,596 kg in total. F9 v1.1 boosters averaged 2,928.4 kg. The first successful ground-pad landing was on 22 December 2015.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EDA with SQL: Boosters and Mission Outcomes</a:t>
            </a:r>
            <a:endParaRPr lang="en-US" sz="3200" dirty="0"/>
          </a:p>
        </p:txBody>
      </p:sp>
      <p:sp>
        <p:nvSpPr>
          <p:cNvPr id="3" name="Card-166"/>
          <p:cNvSpPr/>
          <p:nvPr/>
        </p:nvSpPr>
        <p:spPr>
          <a:xfrm>
            <a:off x="548640" y="1325880"/>
            <a:ext cx="7040880" cy="2537460"/>
          </a:xfrm>
          <a:prstGeom prst="roundRect">
            <a:avLst>
              <a:gd name="adj" fmla="val 432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43560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Q6  Boosters with drone-ship success and payload between 4,000 and 6,000 kg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37360"/>
            <a:ext cx="6675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SELECT DISTINCT Booster_Version FROM SPACEXTBL WHERE Landing_Outcome = 'Success (drone ship)' AND PAYLOAD_MASS__KG_ &gt; 4000 AND PAYLOAD_MASS__KG_ &lt; 6000</a:t>
            </a:r>
            <a:endParaRPr lang="en-US" sz="11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148840"/>
          <a:ext cx="6675120" cy="914400"/>
        </p:xfrm>
        <a:graphic>
          <a:graphicData uri="http://schemas.openxmlformats.org/drawingml/2006/table">
            <a:tbl>
              <a:tblPr/>
              <a:tblGrid>
                <a:gridCol w="667512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Booster_Version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F9 FT B1022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F9 FT B1026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F9 FT B1021.2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F9 FT B1031.2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</a:tbl>
          </a:graphicData>
        </a:graphic>
      </p:graphicFrame>
      <p:sp>
        <p:nvSpPr>
          <p:cNvPr id="7" name="Card-167"/>
          <p:cNvSpPr/>
          <p:nvPr/>
        </p:nvSpPr>
        <p:spPr>
          <a:xfrm>
            <a:off x="548640" y="4046220"/>
            <a:ext cx="7040880" cy="212598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31520" y="415594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Q7  Total number of successful and failed mission outcomes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457700"/>
            <a:ext cx="6675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SELECT Mission_Outcome, COUNT(*) AS total FROM SPACEXTBL GROUP BY Mission_Outcome</a:t>
            </a:r>
            <a:endParaRPr lang="en-US" sz="1100" dirty="0"/>
          </a:p>
        </p:txBody>
      </p:sp>
      <p:graphicFrame>
        <p:nvGraphicFramePr>
          <p:cNvPr id="4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4695444"/>
          <a:ext cx="6675120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192024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Mission_Outcome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(in flight)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 (payload status unclear)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Card-168"/>
          <p:cNvSpPr/>
          <p:nvPr/>
        </p:nvSpPr>
        <p:spPr>
          <a:xfrm>
            <a:off x="7863840" y="1325880"/>
            <a:ext cx="3776472" cy="4846320"/>
          </a:xfrm>
          <a:prstGeom prst="roundRect">
            <a:avLst>
              <a:gd name="adj" fmla="val 290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092440" y="150876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WHAT IT SHOWS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8092440" y="1828800"/>
            <a:ext cx="331927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Boosters that landed on a drone ship with a mid-range payload, and the count of each mission outcome.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8092440" y="352044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INSIGHT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8092440" y="3840480"/>
            <a:ext cx="33192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Four Falcon 9 FT boosters landed on a drone ship with payloads of 4,000 to 6,000 kg. Of 101 missions, 99 succeeded, 1 had an unclear payload status and 1 failed in flight.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EDA with SQL: Heaviest Payload and 2015 Failures</a:t>
            </a:r>
            <a:endParaRPr lang="en-US" sz="3200" dirty="0"/>
          </a:p>
        </p:txBody>
      </p:sp>
      <p:sp>
        <p:nvSpPr>
          <p:cNvPr id="3" name="Card-169"/>
          <p:cNvSpPr/>
          <p:nvPr/>
        </p:nvSpPr>
        <p:spPr>
          <a:xfrm>
            <a:off x="548640" y="1325880"/>
            <a:ext cx="7040880" cy="2807208"/>
          </a:xfrm>
          <a:prstGeom prst="roundRect">
            <a:avLst>
              <a:gd name="adj" fmla="val 390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43560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Q8  Boosters that carried the maximum payload mass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37360"/>
            <a:ext cx="6675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SELECT DISTINCT Booster_Version FROM SPACEXTBL WHERE PAYLOAD_MASS__KG_ = (SELECT MAX(PAYLOAD_MASS__KG_) FROM SPACEXTBL)</a:t>
            </a:r>
            <a:endParaRPr lang="en-US" sz="11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148840"/>
          <a:ext cx="6675120" cy="914400"/>
        </p:xfrm>
        <a:graphic>
          <a:graphicData uri="http://schemas.openxmlformats.org/drawingml/2006/table">
            <a:tbl>
              <a:tblPr/>
              <a:tblGrid>
                <a:gridCol w="3337560"/>
                <a:gridCol w="333756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Booster_Version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Booster_Version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F9 B5 B1048.4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F9 B5 B1049.5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F9 B5 B1049.4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F9 B5 B1060.2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F9 B5 B1051.3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F9 B5 B1058.3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F9 B5 B1056.4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F9 B5 B1051.6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F9 B5 B1048.5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F9 B5 B1060.3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F9 B5 B1051.4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F9 B5 B1049.7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</a:tbl>
          </a:graphicData>
        </a:graphic>
      </p:graphicFrame>
      <p:sp>
        <p:nvSpPr>
          <p:cNvPr id="7" name="Card-170"/>
          <p:cNvSpPr/>
          <p:nvPr/>
        </p:nvSpPr>
        <p:spPr>
          <a:xfrm>
            <a:off x="548640" y="4315968"/>
            <a:ext cx="7040880" cy="1856232"/>
          </a:xfrm>
          <a:prstGeom prst="roundRect">
            <a:avLst>
              <a:gd name="adj" fmla="val 591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31520" y="4425696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Q9  2015 failed drone-ship landings: month, booster, launch site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727448"/>
            <a:ext cx="6675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SELECT substr(Date, 6, 2) AS month, Landing_Outcome, Booster_Version, Launch_Site FROM SPACEXTBL WHERE Landing_Outcome = 'Failure (drone ship)' AND substr(Date, 1, 4) = '2015'</a:t>
            </a:r>
            <a:endParaRPr lang="en-US" sz="1100" dirty="0"/>
          </a:p>
        </p:txBody>
      </p:sp>
      <p:graphicFrame>
        <p:nvGraphicFramePr>
          <p:cNvPr id="4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5138928"/>
          <a:ext cx="6675120" cy="914400"/>
        </p:xfrm>
        <a:graphic>
          <a:graphicData uri="http://schemas.openxmlformats.org/drawingml/2006/table">
            <a:tbl>
              <a:tblPr/>
              <a:tblGrid>
                <a:gridCol w="1668780"/>
                <a:gridCol w="1668780"/>
                <a:gridCol w="1668780"/>
                <a:gridCol w="166878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Landing_Outcome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Booster_Version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Launch_Site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January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(drone ship)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F9 v1.1 B1012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CCAFS LC-40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(drone ship)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F9 v1.1 B1015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CCAFS LC-40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</a:tbl>
          </a:graphicData>
        </a:graphic>
      </p:graphicFrame>
      <p:sp>
        <p:nvSpPr>
          <p:cNvPr id="11" name="Card-171"/>
          <p:cNvSpPr/>
          <p:nvPr/>
        </p:nvSpPr>
        <p:spPr>
          <a:xfrm>
            <a:off x="7863840" y="1325880"/>
            <a:ext cx="3776472" cy="4846320"/>
          </a:xfrm>
          <a:prstGeom prst="roundRect">
            <a:avLst>
              <a:gd name="adj" fmla="val 290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092440" y="150876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WHAT IT SHOWS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8092440" y="1828800"/>
            <a:ext cx="331927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Boosters that carried the maximum payload (15,600 kg), and the failed drone-ship landings of 2015.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8092440" y="352044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INSIGHT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8092440" y="3840480"/>
            <a:ext cx="33192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12 booster flights carried the maximum payload, all Block 5 (B5). Two drone-ship landings failed in 2015: January (B1012) and April (B1015), both from CCAFS LC-40.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EDA with SQL: Landing Outcome Ranking</a:t>
            </a:r>
            <a:endParaRPr lang="en-US" sz="3200" dirty="0"/>
          </a:p>
        </p:txBody>
      </p:sp>
      <p:sp>
        <p:nvSpPr>
          <p:cNvPr id="3" name="Card-172"/>
          <p:cNvSpPr/>
          <p:nvPr/>
        </p:nvSpPr>
        <p:spPr>
          <a:xfrm>
            <a:off x="548640" y="1325880"/>
            <a:ext cx="7040880" cy="4846320"/>
          </a:xfrm>
          <a:prstGeom prst="roundRect">
            <a:avLst>
              <a:gd name="adj" fmla="val 22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43560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Q10  Rank landing outcomes between 2010-06-04 and 2017-03-20 (descending)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37360"/>
            <a:ext cx="6675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SELECT Landing_Outcome, COUNT(*) AS total FROM SPACEXTBL WHERE Date BETWEEN '2010-06-04' AND '2017-03-20' GROUP BY Landing_Outcome ORDER BY total DESC</a:t>
            </a:r>
            <a:endParaRPr lang="en-US" sz="11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148840"/>
          <a:ext cx="6675120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19202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Landing_Outcome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attempt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 (drone ship)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(drone ship)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 (ground pad)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Controlled (ocean)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Uncontrolled (ocean)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(parachute)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Precluded (drone ship)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</a:tbl>
          </a:graphicData>
        </a:graphic>
      </p:graphicFrame>
      <p:sp>
        <p:nvSpPr>
          <p:cNvPr id="7" name="Card-173"/>
          <p:cNvSpPr/>
          <p:nvPr/>
        </p:nvSpPr>
        <p:spPr>
          <a:xfrm>
            <a:off x="7863840" y="1325880"/>
            <a:ext cx="3776472" cy="4846320"/>
          </a:xfrm>
          <a:prstGeom prst="roundRect">
            <a:avLst>
              <a:gd name="adj" fmla="val 290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092440" y="150876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WHAT IT SHOWS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1828800"/>
            <a:ext cx="331927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Landing outcomes between 2010-06-04 and 2017-03-20, counted and ranked in descending order.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352044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INSIGHT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092440" y="3840480"/>
            <a:ext cx="33192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"No attempt" was the most common outcome (10). Drone-ship successes and failures tied at 5 each, ahead of ground-pad successes (3).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Folium Map: Launch Site Locations</a:t>
            </a:r>
            <a:endParaRPr lang="en-US" sz="3200" dirty="0"/>
          </a:p>
        </p:txBody>
      </p:sp>
      <p:sp>
        <p:nvSpPr>
          <p:cNvPr id="3" name="Card-174"/>
          <p:cNvSpPr/>
          <p:nvPr/>
        </p:nvSpPr>
        <p:spPr>
          <a:xfrm>
            <a:off x="548640" y="1325880"/>
            <a:ext cx="7040880" cy="4846320"/>
          </a:xfrm>
          <a:prstGeom prst="roundRect">
            <a:avLst>
              <a:gd name="adj" fmla="val 22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Launch site loca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94256"/>
            <a:ext cx="6766560" cy="3909568"/>
          </a:xfrm>
          <a:prstGeom prst="rect">
            <a:avLst/>
          </a:prstGeom>
        </p:spPr>
      </p:pic>
      <p:sp>
        <p:nvSpPr>
          <p:cNvPr id="5" name="Card-175"/>
          <p:cNvSpPr/>
          <p:nvPr/>
        </p:nvSpPr>
        <p:spPr>
          <a:xfrm>
            <a:off x="7863840" y="1325880"/>
            <a:ext cx="3776472" cy="4846320"/>
          </a:xfrm>
          <a:prstGeom prst="roundRect">
            <a:avLst>
              <a:gd name="adj" fmla="val 290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092440" y="150876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WHAT IT SHOWS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1828800"/>
            <a:ext cx="331927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Launch sites plotted by latitude and longitude, as marked on the Folium map. Static view; the interactive map is in the notebook.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092440" y="352044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INSIGHT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3840480"/>
            <a:ext cx="33192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Three sites sit together at Cape Canaveral, Florida (CCAFS LC-40, CCAFS SLC-40, KSC LC-39A). The fourth, VAFB SLC-4E, is in California. All four are on the US coast.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Folium Map: Launch Outcomes per Site</a:t>
            </a:r>
            <a:endParaRPr lang="en-US" sz="3200" dirty="0"/>
          </a:p>
        </p:txBody>
      </p:sp>
      <p:sp>
        <p:nvSpPr>
          <p:cNvPr id="3" name="Card-176"/>
          <p:cNvSpPr/>
          <p:nvPr/>
        </p:nvSpPr>
        <p:spPr>
          <a:xfrm>
            <a:off x="548640" y="1325880"/>
            <a:ext cx="7040880" cy="4846320"/>
          </a:xfrm>
          <a:prstGeom prst="roundRect">
            <a:avLst>
              <a:gd name="adj" fmla="val 22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Launch outcomes per si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49908"/>
            <a:ext cx="6766560" cy="4398264"/>
          </a:xfrm>
          <a:prstGeom prst="rect">
            <a:avLst/>
          </a:prstGeom>
        </p:spPr>
      </p:pic>
      <p:sp>
        <p:nvSpPr>
          <p:cNvPr id="5" name="Card-177"/>
          <p:cNvSpPr/>
          <p:nvPr/>
        </p:nvSpPr>
        <p:spPr>
          <a:xfrm>
            <a:off x="7863840" y="1325880"/>
            <a:ext cx="3776472" cy="4846320"/>
          </a:xfrm>
          <a:prstGeom prst="roundRect">
            <a:avLst>
              <a:gd name="adj" fmla="val 290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092440" y="150876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WHAT IT SHOWS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1828800"/>
            <a:ext cx="331927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Green markers are successful landings and red markers are failures at each site. Static view of the marker counts.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092440" y="352044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INSIGHT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3840480"/>
            <a:ext cx="33192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KSC LC-39A has the best record: 10 of 13 launches landed (77%). CCAFS LC-40 has the weakest, 7 of 26 (27%), and hosts the earliest launches.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Folium Map: Proximity Analysis</a:t>
            </a:r>
            <a:endParaRPr lang="en-US" sz="3200" dirty="0"/>
          </a:p>
        </p:txBody>
      </p:sp>
      <p:sp>
        <p:nvSpPr>
          <p:cNvPr id="3" name="Card-178"/>
          <p:cNvSpPr/>
          <p:nvPr/>
        </p:nvSpPr>
        <p:spPr>
          <a:xfrm>
            <a:off x="548640" y="1325880"/>
            <a:ext cx="7040880" cy="4846320"/>
          </a:xfrm>
          <a:prstGeom prst="roundRect">
            <a:avLst>
              <a:gd name="adj" fmla="val 22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oximity of CCAFS SLC-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97139"/>
            <a:ext cx="6766560" cy="3703801"/>
          </a:xfrm>
          <a:prstGeom prst="rect">
            <a:avLst/>
          </a:prstGeom>
        </p:spPr>
      </p:pic>
      <p:sp>
        <p:nvSpPr>
          <p:cNvPr id="5" name="Card-179"/>
          <p:cNvSpPr/>
          <p:nvPr/>
        </p:nvSpPr>
        <p:spPr>
          <a:xfrm>
            <a:off x="7863840" y="1325880"/>
            <a:ext cx="3776472" cy="4846320"/>
          </a:xfrm>
          <a:prstGeom prst="roundRect">
            <a:avLst>
              <a:gd name="adj" fmla="val 290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092440" y="150876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WHAT IT SHOWS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1828800"/>
            <a:ext cx="331927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Distances from CCAFS SLC-40 to the nearest coastline, railway, highway and city, as drawn with lines on the Folium map.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092440" y="352044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INSIGHT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3840480"/>
            <a:ext cx="33192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site is 0.51 km from the coast, 1.28 km from a railway and 0.35 km from a highway, but 23 km from the nearest city (Titusville). Proximity points are approximate.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Plotly Dash: Launch Success by Site</a:t>
            </a:r>
            <a:endParaRPr lang="en-US" sz="3200" dirty="0"/>
          </a:p>
        </p:txBody>
      </p:sp>
      <p:sp>
        <p:nvSpPr>
          <p:cNvPr id="3" name="Card-180"/>
          <p:cNvSpPr/>
          <p:nvPr/>
        </p:nvSpPr>
        <p:spPr>
          <a:xfrm>
            <a:off x="548640" y="1325880"/>
            <a:ext cx="704088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Successful launches by si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463040"/>
            <a:ext cx="6172200" cy="2057400"/>
          </a:xfrm>
          <a:prstGeom prst="rect">
            <a:avLst/>
          </a:prstGeom>
        </p:spPr>
      </p:pic>
      <p:sp>
        <p:nvSpPr>
          <p:cNvPr id="5" name="Card-181"/>
          <p:cNvSpPr/>
          <p:nvPr/>
        </p:nvSpPr>
        <p:spPr>
          <a:xfrm>
            <a:off x="548640" y="3840480"/>
            <a:ext cx="704088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1" descr="Best site: success vs failu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3977640"/>
            <a:ext cx="6172200" cy="2057400"/>
          </a:xfrm>
          <a:prstGeom prst="rect">
            <a:avLst/>
          </a:prstGeom>
        </p:spPr>
      </p:pic>
      <p:sp>
        <p:nvSpPr>
          <p:cNvPr id="7" name="Card-182"/>
          <p:cNvSpPr/>
          <p:nvPr/>
        </p:nvSpPr>
        <p:spPr>
          <a:xfrm>
            <a:off x="7863840" y="1325880"/>
            <a:ext cx="3776472" cy="4846320"/>
          </a:xfrm>
          <a:prstGeom prst="roundRect">
            <a:avLst>
              <a:gd name="adj" fmla="val 290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8092440" y="150876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WHAT IT SHOWS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8092440" y="1828800"/>
            <a:ext cx="331927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two pie charts of the dashboard: successful launches per site (top), and success vs failure for the site with the best ratio (bottom).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092440" y="352044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INSIGHT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8092440" y="3840480"/>
            <a:ext cx="33192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KSC LC-39A holds the largest share of successful launches (10 of 24, 41.7%) and the best success ratio (76.9%).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Plotly Dash: Payload vs. Outcome</a:t>
            </a:r>
            <a:endParaRPr lang="en-US" sz="3200" dirty="0"/>
          </a:p>
        </p:txBody>
      </p:sp>
      <p:sp>
        <p:nvSpPr>
          <p:cNvPr id="3" name="Card-183"/>
          <p:cNvSpPr/>
          <p:nvPr/>
        </p:nvSpPr>
        <p:spPr>
          <a:xfrm>
            <a:off x="548640" y="1325880"/>
            <a:ext cx="704088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ayload vs outcome, all launch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463040"/>
            <a:ext cx="6172200" cy="2057400"/>
          </a:xfrm>
          <a:prstGeom prst="rect">
            <a:avLst/>
          </a:prstGeom>
        </p:spPr>
      </p:pic>
      <p:sp>
        <p:nvSpPr>
          <p:cNvPr id="5" name="Card-184"/>
          <p:cNvSpPr/>
          <p:nvPr/>
        </p:nvSpPr>
        <p:spPr>
          <a:xfrm>
            <a:off x="548640" y="3840480"/>
            <a:ext cx="704088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1" descr="Payload vs outcome by ran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3977640"/>
            <a:ext cx="6172200" cy="2057400"/>
          </a:xfrm>
          <a:prstGeom prst="rect">
            <a:avLst/>
          </a:prstGeom>
        </p:spPr>
      </p:pic>
      <p:sp>
        <p:nvSpPr>
          <p:cNvPr id="7" name="Card-185"/>
          <p:cNvSpPr/>
          <p:nvPr/>
        </p:nvSpPr>
        <p:spPr>
          <a:xfrm>
            <a:off x="7863840" y="1325880"/>
            <a:ext cx="3776472" cy="4846320"/>
          </a:xfrm>
          <a:prstGeom prst="roundRect">
            <a:avLst>
              <a:gd name="adj" fmla="val 290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8092440" y="150876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WHAT IT SHOWS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8092440" y="1828800"/>
            <a:ext cx="331927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Payload mass against outcome, coloured by booster version, filtered with the payload range slider.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092440" y="352044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INSIGHT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8092440" y="3840480"/>
            <a:ext cx="33192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Launches with 0 to 4,000 kg landed 47% of the time (n=34) vs 36% for 4,000 to 10,000 kg (n=22). By booster, FT lands 67% (n=24); v1.0 and v1.1 rarely landed (0% and 7%).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Predictive Analysis: Model Comparison</a:t>
            </a:r>
            <a:endParaRPr lang="en-US" sz="3200" dirty="0"/>
          </a:p>
        </p:txBody>
      </p:sp>
      <p:sp>
        <p:nvSpPr>
          <p:cNvPr id="3" name="Card-186"/>
          <p:cNvSpPr/>
          <p:nvPr/>
        </p:nvSpPr>
        <p:spPr>
          <a:xfrm>
            <a:off x="548640" y="1325880"/>
            <a:ext cx="7040880" cy="4846320"/>
          </a:xfrm>
          <a:prstGeom prst="roundRect">
            <a:avLst>
              <a:gd name="adj" fmla="val 22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Test accuracy per mod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49908"/>
            <a:ext cx="6766560" cy="4398264"/>
          </a:xfrm>
          <a:prstGeom prst="rect">
            <a:avLst/>
          </a:prstGeom>
        </p:spPr>
      </p:pic>
      <p:sp>
        <p:nvSpPr>
          <p:cNvPr id="5" name="Card-187"/>
          <p:cNvSpPr/>
          <p:nvPr/>
        </p:nvSpPr>
        <p:spPr>
          <a:xfrm>
            <a:off x="7863840" y="1325880"/>
            <a:ext cx="3776472" cy="4846320"/>
          </a:xfrm>
          <a:prstGeom prst="roundRect">
            <a:avLst>
              <a:gd name="adj" fmla="val 290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092440" y="150876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WHAT IT SHOWS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1828800"/>
            <a:ext cx="331927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Test-set accuracy of each tuned classifier: Logistic Regression, SVM, Decision Tree and KNN.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092440" y="352044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INSIGHT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3840480"/>
            <a:ext cx="33192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SVM, KNN and Logistic Regression tie at 83.3% test accuracy; the Decision Tree reaches 72.2%. SVM is selected for its best cross-validation accuracy (84.8%).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Predictive Analysis: Confusion Matrix</a:t>
            </a:r>
            <a:endParaRPr lang="en-US" sz="3200" dirty="0"/>
          </a:p>
        </p:txBody>
      </p:sp>
      <p:sp>
        <p:nvSpPr>
          <p:cNvPr id="3" name="Card-188"/>
          <p:cNvSpPr/>
          <p:nvPr/>
        </p:nvSpPr>
        <p:spPr>
          <a:xfrm>
            <a:off x="548640" y="1325880"/>
            <a:ext cx="7040880" cy="4846320"/>
          </a:xfrm>
          <a:prstGeom prst="roundRect">
            <a:avLst>
              <a:gd name="adj" fmla="val 22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Confusion matrix: SV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463040"/>
            <a:ext cx="5486400" cy="4572000"/>
          </a:xfrm>
          <a:prstGeom prst="rect">
            <a:avLst/>
          </a:prstGeom>
        </p:spPr>
      </p:pic>
      <p:sp>
        <p:nvSpPr>
          <p:cNvPr id="5" name="Card-189"/>
          <p:cNvSpPr/>
          <p:nvPr/>
        </p:nvSpPr>
        <p:spPr>
          <a:xfrm>
            <a:off x="7863840" y="1325880"/>
            <a:ext cx="3776472" cy="4846320"/>
          </a:xfrm>
          <a:prstGeom prst="roundRect">
            <a:avLst>
              <a:gd name="adj" fmla="val 290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092440" y="150876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WHAT IT SHOWS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1828800"/>
            <a:ext cx="331927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True vs predicted landing outcomes for the best model on the 18 test launches.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092440" y="352044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INSIGHT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3840480"/>
            <a:ext cx="33192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12 true positives, 3 true negatives, 3 false positives and 0 false negatives. The model never misses a landing but sometimes predicts a landing that fails.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Innovative Insights</a:t>
            </a:r>
            <a:endParaRPr lang="en-US" sz="3200" dirty="0"/>
          </a:p>
        </p:txBody>
      </p:sp>
      <p:sp>
        <p:nvSpPr>
          <p:cNvPr id="3" name="Card-190"/>
          <p:cNvSpPr/>
          <p:nvPr/>
        </p:nvSpPr>
        <p:spPr>
          <a:xfrm>
            <a:off x="548640" y="1325880"/>
            <a:ext cx="3511296" cy="4846320"/>
          </a:xfrm>
          <a:prstGeom prst="roundRect">
            <a:avLst>
              <a:gd name="adj" fmla="val 312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IconBg-191"/>
          <p:cNvSpPr/>
          <p:nvPr/>
        </p:nvSpPr>
        <p:spPr>
          <a:xfrm>
            <a:off x="822960" y="16002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dollar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182" y="1779422"/>
            <a:ext cx="281635" cy="2816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377440"/>
            <a:ext cx="2962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Reuse pays for itself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017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FINDING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310128"/>
            <a:ext cx="29626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landed first stage supports the gap between $165M and $62M launch prices.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4805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SO WHAT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773168"/>
            <a:ext cx="29626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Expected saving ≈ P(landing) × ~$100M. At the historical 66.7% landing rate that is about $67M per launch; a model probability makes it launch-specific.</a:t>
            </a:r>
            <a:endParaRPr lang="en-US" sz="1500" dirty="0"/>
          </a:p>
        </p:txBody>
      </p:sp>
      <p:sp>
        <p:nvSpPr>
          <p:cNvPr id="11" name="Card-192"/>
          <p:cNvSpPr/>
          <p:nvPr/>
        </p:nvSpPr>
        <p:spPr>
          <a:xfrm>
            <a:off x="4338828" y="1325880"/>
            <a:ext cx="3511296" cy="4846320"/>
          </a:xfrm>
          <a:prstGeom prst="roundRect">
            <a:avLst>
              <a:gd name="adj" fmla="val 312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IconBg-193"/>
          <p:cNvSpPr/>
          <p:nvPr/>
        </p:nvSpPr>
        <p:spPr>
          <a:xfrm>
            <a:off x="4613148" y="16002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1" descr="lin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2370" y="1779422"/>
            <a:ext cx="281635" cy="28163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613148" y="2377440"/>
            <a:ext cx="2962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Experience compounds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4613148" y="3017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FINDING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4613148" y="3310128"/>
            <a:ext cx="29626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Success rises from 0% (2013) to 84% (2020); in LEO it tracks flight number (correlation 0.72).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4613148" y="44805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SO WHAT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4613148" y="4773168"/>
            <a:ext cx="29626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Early flights drag down naive averages; model booster maturity, not just orbit.</a:t>
            </a:r>
            <a:endParaRPr lang="en-US" sz="1500" dirty="0"/>
          </a:p>
        </p:txBody>
      </p:sp>
      <p:sp>
        <p:nvSpPr>
          <p:cNvPr id="19" name="Card-194"/>
          <p:cNvSpPr/>
          <p:nvPr/>
        </p:nvSpPr>
        <p:spPr>
          <a:xfrm>
            <a:off x="8129016" y="1325880"/>
            <a:ext cx="3511296" cy="4846320"/>
          </a:xfrm>
          <a:prstGeom prst="roundRect">
            <a:avLst>
              <a:gd name="adj" fmla="val 312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IconBg-195"/>
          <p:cNvSpPr/>
          <p:nvPr/>
        </p:nvSpPr>
        <p:spPr>
          <a:xfrm>
            <a:off x="8403336" y="16002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2" descr="bulb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2558" y="1779422"/>
            <a:ext cx="281635" cy="281635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403336" y="2377440"/>
            <a:ext cx="2962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Context beats one factor</a:t>
            </a:r>
            <a:endParaRPr lang="en-US" sz="2000" dirty="0"/>
          </a:p>
        </p:txBody>
      </p:sp>
      <p:sp>
        <p:nvSpPr>
          <p:cNvPr id="23" name="Text 18"/>
          <p:cNvSpPr txBox="1"/>
          <p:nvPr/>
        </p:nvSpPr>
        <p:spPr>
          <a:xfrm>
            <a:off x="8403336" y="3017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FINDING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8403336" y="3310128"/>
            <a:ext cx="29626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GTO lands 52% of the time vs 86% for VLEO, and KSC LC-39A lands 77% vs 27% at CCAFS LC-40.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8403336" y="44805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SO WHAT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8403336" y="4773168"/>
            <a:ext cx="29626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 single factor explains a landing; the models combine orbit, site, payload and booster.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3" name="Card-196"/>
          <p:cNvSpPr/>
          <p:nvPr/>
        </p:nvSpPr>
        <p:spPr>
          <a:xfrm>
            <a:off x="548640" y="1371600"/>
            <a:ext cx="5422392" cy="2240280"/>
          </a:xfrm>
          <a:prstGeom prst="roundRect">
            <a:avLst>
              <a:gd name="adj" fmla="val 4898"/>
            </a:avLst>
          </a:prstGeom>
          <a:solidFill>
            <a:schemeClr val="tx2"/>
          </a:solidFill>
          <a:ln/>
        </p:spPr>
      </p:sp>
      <p:sp>
        <p:nvSpPr>
          <p:cNvPr id="4" name="IconBg-197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check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182" y="1825142"/>
            <a:ext cx="281635" cy="2816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6459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Landing success is predictable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688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SVM, KNN and Logistic Regression reach 83.3% test accuracy.</a:t>
            </a:r>
            <a:endParaRPr lang="en-US" sz="1700" dirty="0"/>
          </a:p>
        </p:txBody>
      </p:sp>
      <p:sp>
        <p:nvSpPr>
          <p:cNvPr id="8" name="Card-198"/>
          <p:cNvSpPr/>
          <p:nvPr/>
        </p:nvSpPr>
        <p:spPr>
          <a:xfrm>
            <a:off x="6217920" y="1371600"/>
            <a:ext cx="5422392" cy="2240280"/>
          </a:xfrm>
          <a:prstGeom prst="roundRect">
            <a:avLst>
              <a:gd name="adj" fmla="val 4898"/>
            </a:avLst>
          </a:prstGeom>
          <a:solidFill>
            <a:schemeClr val="tx2"/>
          </a:solidFill>
          <a:ln/>
        </p:spPr>
      </p:sp>
      <p:sp>
        <p:nvSpPr>
          <p:cNvPr id="9" name="IconBg-199"/>
          <p:cNvSpPr/>
          <p:nvPr/>
        </p:nvSpPr>
        <p:spPr>
          <a:xfrm>
            <a:off x="6492240" y="16459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lin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1462" y="1825142"/>
            <a:ext cx="281635" cy="28163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15200" y="16459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Success improves with experience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24688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The yearly landing rate rose from 0% in 2013 to 84% in 2020.</a:t>
            </a:r>
            <a:endParaRPr lang="en-US" sz="1700" dirty="0"/>
          </a:p>
        </p:txBody>
      </p:sp>
      <p:sp>
        <p:nvSpPr>
          <p:cNvPr id="13" name="Card-200"/>
          <p:cNvSpPr/>
          <p:nvPr/>
        </p:nvSpPr>
        <p:spPr>
          <a:xfrm>
            <a:off x="548640" y="3840480"/>
            <a:ext cx="5422392" cy="2240280"/>
          </a:xfrm>
          <a:prstGeom prst="roundRect">
            <a:avLst>
              <a:gd name="adj" fmla="val 4898"/>
            </a:avLst>
          </a:prstGeom>
          <a:solidFill>
            <a:schemeClr val="tx2"/>
          </a:solidFill>
          <a:ln/>
        </p:spPr>
      </p:sp>
      <p:sp>
        <p:nvSpPr>
          <p:cNvPr id="14" name="IconBg-201"/>
          <p:cNvSpPr/>
          <p:nvPr/>
        </p:nvSpPr>
        <p:spPr>
          <a:xfrm>
            <a:off x="822960" y="4114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char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182" y="4294022"/>
            <a:ext cx="281635" cy="28163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45920" y="41148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Context matters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" y="49377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Orbit, launch site, payload and booster version all shift the odds.</a:t>
            </a:r>
            <a:endParaRPr lang="en-US" sz="1700" dirty="0"/>
          </a:p>
        </p:txBody>
      </p:sp>
      <p:sp>
        <p:nvSpPr>
          <p:cNvPr id="18" name="Card-202"/>
          <p:cNvSpPr/>
          <p:nvPr/>
        </p:nvSpPr>
        <p:spPr>
          <a:xfrm>
            <a:off x="6217920" y="3840480"/>
            <a:ext cx="5422392" cy="2240280"/>
          </a:xfrm>
          <a:prstGeom prst="roundRect">
            <a:avLst>
              <a:gd name="adj" fmla="val 4898"/>
            </a:avLst>
          </a:prstGeom>
          <a:solidFill>
            <a:schemeClr val="tx2"/>
          </a:solidFill>
          <a:ln/>
        </p:spPr>
      </p:sp>
      <p:sp>
        <p:nvSpPr>
          <p:cNvPr id="19" name="IconBg-203"/>
          <p:cNvSpPr/>
          <p:nvPr/>
        </p:nvSpPr>
        <p:spPr>
          <a:xfrm>
            <a:off x="6492240" y="4114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3" descr="rocket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1462" y="4294022"/>
            <a:ext cx="281635" cy="28163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15200" y="41148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Limits and next steps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6492240" y="49377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Only 90 launches and 18 test samples. Add more data, weather and reuse-count features, and probability outputs.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Appendix: GitHub Links</a:t>
            </a:r>
            <a:endParaRPr lang="en-US" sz="32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9983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Repository (all notebooks and code)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u="sng" dirty="0">
                          <a:solidFill>
                            <a:srgbClr val="2E86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github.com/itsdimash/IBM-Data-Science-Capstone-SpaceX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collection: SpaceX 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u="sng" dirty="0">
                          <a:solidFill>
                            <a:srgbClr val="2E86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2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github.com/itsdimash/IBM-Data-Science-Capstone-SpaceX/blob/main/jupyter-labs-spacex-data-collection-api.ipynb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collection: web scraping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u="sng" dirty="0">
                          <a:solidFill>
                            <a:srgbClr val="2E86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3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github.com/itsdimash/IBM-Data-Science-Capstone-SpaceX/blob/main/jupyter-labs-webscraping.ipynb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wrangling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u="sng" dirty="0">
                          <a:solidFill>
                            <a:srgbClr val="2E86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4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github.com/itsdimash/IBM-Data-Science-Capstone-SpaceX/blob/main/labs-jupyter-spacex-Data-wrangling.ipynb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EDA with SQL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u="sng" dirty="0">
                          <a:solidFill>
                            <a:srgbClr val="2E86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5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github.com/itsdimash/IBM-Data-Science-Capstone-SpaceX/blob/main/SpaceX_Capstone_Analysis.ipynb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EDA with data visualization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u="sng" dirty="0">
                          <a:solidFill>
                            <a:srgbClr val="2E86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6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github.com/itsdimash/IBM-Data-Science-Capstone-SpaceX/blob/main/SpaceX_Capstone_Analysis.ipynb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Folium map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u="sng" dirty="0">
                          <a:solidFill>
                            <a:srgbClr val="2E86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7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github.com/itsdimash/IBM-Data-Science-Capstone-SpaceX/blob/main/lab_jupyter_launch_site_location_completed.ipynb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Plotly Dash app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u="sng" dirty="0">
                          <a:solidFill>
                            <a:srgbClr val="2E86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8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github.com/itsdimash/IBM-Data-Science-Capstone-SpaceX/blob/main/spacex_dash_app.py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Predictive analysis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u="sng" dirty="0">
                          <a:solidFill>
                            <a:srgbClr val="2E86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9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github.com/itsdimash/IBM-Data-Science-Capstone-SpaceX/blob/main/SpaceX_Capstone_Analysis.ipynb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Appendix: Model Details</a:t>
            </a:r>
            <a:endParaRPr lang="en-US" sz="32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5330952"/>
                <a:gridCol w="1737360"/>
                <a:gridCol w="18288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hyperparameters (GridSearchCV, cv=10)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accuracy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accuracy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C=1, penalty=l2, solver=lbfgs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C=1, gamma=0.0316, kernel=sigmoid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criterion=gini, max_depth=10, max_features=sqrt, min_samples_leaf=1, min_samples_split=2, splitter=random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algorithm=auto, n_neighbors=6, p=1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</a:tbl>
          </a:graphicData>
        </a:graphic>
      </p:graphicFrame>
      <p:sp>
        <p:nvSpPr>
          <p:cNvPr id="4" name="Card-204"/>
          <p:cNvSpPr/>
          <p:nvPr/>
        </p:nvSpPr>
        <p:spPr>
          <a:xfrm>
            <a:off x="548640" y="4754880"/>
            <a:ext cx="11091672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822960" y="4754880"/>
            <a:ext cx="105430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Split: 72 training and 18 test launches (test_size 0.2, random_state 2), features standardized with StandardScaler. With 18 test launches, one launch changes accuracy by 5.6 points, so the tie between three models should be read with care.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bital">
  <a:themeElements>
    <a:clrScheme name="Orbital">
      <a:dk1>
        <a:srgbClr val="0B1426"/>
      </a:dk1>
      <a:lt1>
        <a:srgbClr val="FFFFFF"/>
      </a:lt1>
      <a:dk2>
        <a:srgbClr val="24385F"/>
      </a:dk2>
      <a:lt2>
        <a:srgbClr val="EEF1F7"/>
      </a:lt2>
      <a:accent1>
        <a:srgbClr val="E8531D"/>
      </a:accent1>
      <a:accent2>
        <a:srgbClr val="2E86DE"/>
      </a:accent2>
      <a:accent3>
        <a:srgbClr val="1E9E78"/>
      </a:accent3>
      <a:accent4>
        <a:srgbClr val="F4B400"/>
      </a:accent4>
      <a:accent5>
        <a:srgbClr val="7A5CFA"/>
      </a:accent5>
      <a:accent6>
        <a:srgbClr val="5F6F86"/>
      </a:accent6>
      <a:hlink>
        <a:srgbClr val="2E86DE"/>
      </a:hlink>
      <a:folHlink>
        <a:srgbClr val="7A5CFA"/>
      </a:folHlink>
    </a:clrScheme>
    <a:fontScheme name="Orbit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Capstone Project Report</dc:title>
  <dc:subject>PptxGenJS Presentation</dc:subject>
  <dc:creator>Dimash</dc:creator>
  <cp:lastModifiedBy>Dimash</cp:lastModifiedBy>
  <cp:revision>1</cp:revision>
  <dcterms:created xsi:type="dcterms:W3CDTF">2026-10-07T18:55:12Z</dcterms:created>
  <dcterms:modified xsi:type="dcterms:W3CDTF">2026-10-07T18:55:12Z</dcterms:modified>
</cp:coreProperties>
</file>